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91" autoAdjust="0"/>
  </p:normalViewPr>
  <p:slideViewPr>
    <p:cSldViewPr snapToGrid="0" snapToObjects="1">
      <p:cViewPr varScale="1">
        <p:scale>
          <a:sx n="79" d="100"/>
          <a:sy n="79" d="100"/>
        </p:scale>
        <p:origin x="821"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1891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built this as an analytics-led decision-support project, not a fully autonomous AI system. The presentation starts with the public distribution challenge, then shows how the data, ML, and application work together.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combines a rigorous analytical pipeline with an interactive application. The hard part was not only running algorithms; it was turning a large, mixed-quality dataset into stable shop-level evidence that could be explored and explained.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is not simply that the data exists. The challenge is turning a large set of shop-month records into a trustworthy view of what is happening, where it is happening, and whether the pattern is unusual.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source tables are transaction, card-status, and location data. The integrated table is a shop-month panel: one observation represents a shop in a month. The notebook records 499,648 rows and 17,491 unique shops, while the time-period description in the repository is inconsistent.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did not rely on one large in-memory operation. The workflow separates ingestion, quality checks, integration, aggregation, and modeling. Parquet is used for efficient storage, while the model-specific pipeline imputes missing values and scales features only after the full feature matrix is prepared.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flow is intentionally linear, but it is not a one-time batch. Each stage produces an artifact that can be reviewed, reused, or improved. The final application turns the outputs into an accessible decision-support experience.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EDA work answers practical questions rather than just producing plots. It compares time, districts, commodity mix, transaction volume, card capacity, portability, and shop behavior. The main business value is to identify where the pattern differs and where a closer look is needed.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PCA is used to reduce complexity for visualization, K-Means groups similar shops, and DBSCAN identifies sparse or unusual profiles. The project demonstrates a valid unsupervised workflow. Albeit, the metrics here do not prove operational accuracy; they are model-quality indicators, not a guarantee that a flagged shop is wrong</a:t>
            </a:r>
            <a:r>
              <a:rPr dirty="0" smtClean="0"/>
              <a:t>.</a:t>
            </a:r>
            <a:r>
              <a:rPr lang="en-SG" dirty="0" smtClean="0"/>
              <a:t> </a:t>
            </a:r>
            <a:r>
              <a:rPr lang="en-US" dirty="0" smtClean="0"/>
              <a:t>Understand the model as a pattern finder—not a final truth.</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This is the key trust boundary. A cluster or anomaly label should trigger investigation, not automatic action. The model could be too sensitive to missing data, a new policy, or a changing shop profile. Inference should be validated with operational records and experienced staff</a:t>
            </a:r>
            <a:r>
              <a:rPr dirty="0" smtClean="0"/>
              <a:t>.</a:t>
            </a:r>
            <a:r>
              <a:rPr lang="en-US" dirty="0" smtClean="0"/>
              <a:t> Important boundary: the model can identify a pattern, but it cannot confirm fraud, stock leakage, or a policy violation. Human validation is essential.</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Important findings are not claims of fraud. They are hypotheses generated from patterns. A district with high activity may be legitimate, and a low-density profile may reflect a new shop, a data gap, or a legitimate operating pattern. The action is therefore review, not automatic enforcement</a:t>
            </a:r>
            <a:r>
              <a:rPr dirty="0" smtClean="0"/>
              <a:t>.</a:t>
            </a:r>
            <a:r>
              <a:rPr lang="en-SG" dirty="0" smtClean="0"/>
              <a:t> </a:t>
            </a:r>
            <a:r>
              <a:rPr lang="en-US" dirty="0" smtClean="0"/>
              <a:t>These are evidence-based hypotheses. The project has not yet established a production-quality operational threshold or a reliable fraud-labeling target.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exposes real analytical capability, but the current application is not yet a production decision system. The dashboard’s fallback is synthetic, and the project does not yet define operational thresholds, alert ownership, access control, or model monitoring. Those are explicit gaps, not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solution connects filtering and visualization to the analytical pipeline. The result is not only a model score; it is a scissors-and-tape-like workflow of structured data, measurable features, transparent labels, and a report that can be reviewed by a human.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application layer is intentionally lightweight. It uses Streamlit and Plotly to render dashboard results. The current code reads a hard-coded parquet path; if that file does not exist, it generates a synthetic dataset. That means the UI is functional but not yet a proof of real-data operation.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user journey is straightforward: open, filter, inspect, and export. The most important limitation is that the current app’s default data may be synthetic, so its operational claims should be treated as a prototype until the real parquet file is connected.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limitations are not failures; they define the transition from a prototype to a production-grade system. The next step is to connect the actual data, validate the model against operational outcomes, and document the controls needed for responsible use.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The roadmap is deliberately staged. First, connect real data and correct the quality checks. Then add stronger validation and </a:t>
            </a:r>
            <a:r>
              <a:rPr dirty="0" err="1"/>
              <a:t>explainability</a:t>
            </a:r>
            <a:r>
              <a:rPr dirty="0"/>
              <a:t>. Finally, build monitoring, automation, and enterprise deployment. The project’s impact comes from combining analytical rigor with responsible use</a:t>
            </a:r>
            <a:r>
              <a:rPr dirty="0" smtClean="0"/>
              <a:t>.</a:t>
            </a:r>
            <a:r>
              <a:rPr lang="en-US" dirty="0" smtClean="0"/>
              <a:t> Evidence is useful only when it is trustworthy, explainable, governed, and tied to an action.</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A56"/>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2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25AAA0"/>
                </a:solidFill>
                <a:latin typeface="Aptos"/>
              </a:defRPr>
            </a:pPr>
            <a:endParaRPr lang="en-SG" dirty="0"/>
          </a:p>
        </p:txBody>
      </p:sp>
      <p:sp>
        <p:nvSpPr>
          <p:cNvPr id="3" name="TextBox 2"/>
          <p:cNvSpPr txBox="1"/>
          <p:nvPr/>
        </p:nvSpPr>
        <p:spPr>
          <a:xfrm>
            <a:off x="457200" y="868680"/>
            <a:ext cx="10881360" cy="615553"/>
          </a:xfrm>
          <a:prstGeom prst="rect">
            <a:avLst/>
          </a:prstGeom>
          <a:noFill/>
        </p:spPr>
        <p:txBody>
          <a:bodyPr wrap="square" lIns="45720" rIns="45720">
            <a:spAutoFit/>
          </a:bodyPr>
          <a:lstStyle/>
          <a:p>
            <a:pPr algn="ctr">
              <a:defRPr sz="3400" b="1">
                <a:solidFill>
                  <a:srgbClr val="FFFFFF"/>
                </a:solidFill>
                <a:latin typeface="Aptos"/>
              </a:defRPr>
            </a:pPr>
            <a:r>
              <a:rPr dirty="0"/>
              <a:t>Telangana PDS </a:t>
            </a:r>
            <a:r>
              <a:rPr dirty="0" smtClean="0"/>
              <a:t>Analytics</a:t>
            </a:r>
            <a:r>
              <a:rPr lang="en-SG" dirty="0" smtClean="0"/>
              <a:t> </a:t>
            </a:r>
            <a:r>
              <a:rPr dirty="0" smtClean="0"/>
              <a:t>&amp; </a:t>
            </a:r>
            <a:r>
              <a:rPr dirty="0"/>
              <a:t>Decision Support</a:t>
            </a:r>
          </a:p>
        </p:txBody>
      </p:sp>
      <p:sp>
        <p:nvSpPr>
          <p:cNvPr id="4" name="TextBox 3"/>
          <p:cNvSpPr txBox="1"/>
          <p:nvPr/>
        </p:nvSpPr>
        <p:spPr>
          <a:xfrm>
            <a:off x="1279879" y="1742601"/>
            <a:ext cx="9875520" cy="548640"/>
          </a:xfrm>
          <a:prstGeom prst="rect">
            <a:avLst/>
          </a:prstGeom>
          <a:noFill/>
        </p:spPr>
        <p:txBody>
          <a:bodyPr wrap="square" lIns="45720" rIns="45720">
            <a:spAutoFit/>
          </a:bodyPr>
          <a:lstStyle/>
          <a:p>
            <a:pPr algn="l">
              <a:defRPr sz="1600" b="0">
                <a:solidFill>
                  <a:srgbClr val="CBE0F4"/>
                </a:solidFill>
                <a:latin typeface="Aptos"/>
              </a:defRPr>
            </a:pPr>
            <a:r>
              <a:rPr dirty="0"/>
              <a:t>From complex distribution data to clear, actionable evidence</a:t>
            </a:r>
          </a:p>
        </p:txBody>
      </p:sp>
      <p:sp>
        <p:nvSpPr>
          <p:cNvPr id="5" name="Rounded Rectangle 4"/>
          <p:cNvSpPr/>
          <p:nvPr/>
        </p:nvSpPr>
        <p:spPr>
          <a:xfrm>
            <a:off x="963038" y="2452484"/>
            <a:ext cx="10116766" cy="1180983"/>
          </a:xfrm>
          <a:prstGeom prst="roundRect">
            <a:avLst/>
          </a:prstGeom>
          <a:solidFill>
            <a:srgbClr val="194E89"/>
          </a:solidFill>
          <a:ln>
            <a:solidFill>
              <a:srgbClr val="699C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59637" y="2565909"/>
            <a:ext cx="4297680" cy="323165"/>
          </a:xfrm>
          <a:prstGeom prst="rect">
            <a:avLst/>
          </a:prstGeom>
          <a:noFill/>
        </p:spPr>
        <p:txBody>
          <a:bodyPr wrap="square" lIns="45720" rIns="45720">
            <a:spAutoFit/>
          </a:bodyPr>
          <a:lstStyle/>
          <a:p>
            <a:pPr algn="l">
              <a:defRPr sz="1100" b="1">
                <a:solidFill>
                  <a:srgbClr val="25AAA0"/>
                </a:solidFill>
                <a:latin typeface="Aptos"/>
              </a:defRPr>
            </a:pPr>
            <a:r>
              <a:rPr lang="en-SG" sz="1500" dirty="0" smtClean="0"/>
              <a:t>PROJECT STORY</a:t>
            </a:r>
            <a:endParaRPr lang="en-SG" sz="1500" dirty="0"/>
          </a:p>
        </p:txBody>
      </p:sp>
      <p:sp>
        <p:nvSpPr>
          <p:cNvPr id="7" name="TextBox 6"/>
          <p:cNvSpPr txBox="1"/>
          <p:nvPr/>
        </p:nvSpPr>
        <p:spPr>
          <a:xfrm>
            <a:off x="1279879" y="2774970"/>
            <a:ext cx="10317175" cy="523220"/>
          </a:xfrm>
          <a:prstGeom prst="rect">
            <a:avLst/>
          </a:prstGeom>
          <a:noFill/>
        </p:spPr>
        <p:txBody>
          <a:bodyPr wrap="square" lIns="45720" rIns="45720">
            <a:spAutoFit/>
          </a:bodyPr>
          <a:lstStyle/>
          <a:p>
            <a:pPr algn="l">
              <a:defRPr sz="2000" b="1">
                <a:solidFill>
                  <a:srgbClr val="FFFFFF"/>
                </a:solidFill>
                <a:latin typeface="Aptos"/>
              </a:defRPr>
            </a:pPr>
            <a:r>
              <a:rPr sz="2800" dirty="0"/>
              <a:t>Problem → Data → Analysis → ML → Insight → Action</a:t>
            </a:r>
          </a:p>
        </p:txBody>
      </p:sp>
      <p:sp>
        <p:nvSpPr>
          <p:cNvPr id="11" name="TextBox 10"/>
          <p:cNvSpPr txBox="1"/>
          <p:nvPr/>
        </p:nvSpPr>
        <p:spPr>
          <a:xfrm>
            <a:off x="1721534" y="5106270"/>
            <a:ext cx="1698324" cy="261610"/>
          </a:xfrm>
          <a:prstGeom prst="rect">
            <a:avLst/>
          </a:prstGeom>
          <a:noFill/>
        </p:spPr>
        <p:txBody>
          <a:bodyPr wrap="square" lIns="45720" rIns="45720">
            <a:spAutoFit/>
          </a:bodyPr>
          <a:lstStyle/>
          <a:p>
            <a:pPr algn="ctr">
              <a:defRPr sz="1000" b="0">
                <a:solidFill>
                  <a:srgbClr val="5B6977"/>
                </a:solidFill>
                <a:latin typeface="Aptos"/>
              </a:defRPr>
            </a:pPr>
            <a:r>
              <a:rPr sz="1100" dirty="0" smtClean="0">
                <a:solidFill>
                  <a:srgbClr val="FF0000"/>
                </a:solidFill>
              </a:rPr>
              <a:t>shop-level records</a:t>
            </a:r>
            <a:endParaRPr sz="1100" dirty="0">
              <a:solidFill>
                <a:srgbClr val="FF0000"/>
              </a:solidFill>
            </a:endParaRPr>
          </a:p>
        </p:txBody>
      </p:sp>
      <p:sp>
        <p:nvSpPr>
          <p:cNvPr id="12" name="Rounded Rectangle 11"/>
          <p:cNvSpPr/>
          <p:nvPr/>
        </p:nvSpPr>
        <p:spPr>
          <a:xfrm>
            <a:off x="4741515" y="4190647"/>
            <a:ext cx="2468880" cy="822960"/>
          </a:xfrm>
          <a:prstGeom prst="roundRect">
            <a:avLst/>
          </a:prstGeom>
          <a:solidFill>
            <a:srgbClr val="175490"/>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741515" y="4202504"/>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06107" y="4366709"/>
            <a:ext cx="2139696" cy="457200"/>
          </a:xfrm>
          <a:prstGeom prst="rect">
            <a:avLst/>
          </a:prstGeom>
          <a:noFill/>
        </p:spPr>
        <p:txBody>
          <a:bodyPr wrap="square" lIns="45720" rIns="45720">
            <a:spAutoFit/>
          </a:bodyPr>
          <a:lstStyle/>
          <a:p>
            <a:pPr algn="ctr">
              <a:defRPr sz="2400" b="1">
                <a:solidFill>
                  <a:srgbClr val="0078D4"/>
                </a:solidFill>
                <a:latin typeface="Aptos"/>
              </a:defRPr>
            </a:pPr>
            <a:r>
              <a:rPr dirty="0"/>
              <a:t>499,648</a:t>
            </a:r>
          </a:p>
        </p:txBody>
      </p:sp>
      <p:sp>
        <p:nvSpPr>
          <p:cNvPr id="15" name="TextBox 14"/>
          <p:cNvSpPr txBox="1"/>
          <p:nvPr/>
        </p:nvSpPr>
        <p:spPr>
          <a:xfrm>
            <a:off x="4828032" y="5164094"/>
            <a:ext cx="2139696" cy="261610"/>
          </a:xfrm>
          <a:prstGeom prst="rect">
            <a:avLst/>
          </a:prstGeom>
          <a:noFill/>
        </p:spPr>
        <p:txBody>
          <a:bodyPr wrap="square" lIns="45720" rIns="45720">
            <a:spAutoFit/>
          </a:bodyPr>
          <a:lstStyle/>
          <a:p>
            <a:pPr algn="ctr">
              <a:defRPr sz="1000" b="0">
                <a:solidFill>
                  <a:srgbClr val="5B6977"/>
                </a:solidFill>
                <a:latin typeface="Aptos"/>
              </a:defRPr>
            </a:pPr>
            <a:r>
              <a:rPr sz="1100" dirty="0">
                <a:solidFill>
                  <a:srgbClr val="FF0000"/>
                </a:solidFill>
                <a:latin typeface="Aptos"/>
              </a:rPr>
              <a:t>integrated</a:t>
            </a:r>
            <a:r>
              <a:rPr dirty="0">
                <a:solidFill>
                  <a:srgbClr val="FF0000"/>
                </a:solidFill>
              </a:rPr>
              <a:t> rows</a:t>
            </a:r>
          </a:p>
        </p:txBody>
      </p:sp>
      <p:sp>
        <p:nvSpPr>
          <p:cNvPr id="16" name="Rounded Rectangle 15"/>
          <p:cNvSpPr/>
          <p:nvPr/>
        </p:nvSpPr>
        <p:spPr>
          <a:xfrm>
            <a:off x="8017527" y="4210987"/>
            <a:ext cx="2560320" cy="822960"/>
          </a:xfrm>
          <a:prstGeom prst="roundRect">
            <a:avLst/>
          </a:prstGeom>
          <a:solidFill>
            <a:srgbClr val="175490"/>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17527" y="4230350"/>
            <a:ext cx="2560320" cy="73152"/>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82119" y="4423822"/>
            <a:ext cx="2231136" cy="457200"/>
          </a:xfrm>
          <a:prstGeom prst="rect">
            <a:avLst/>
          </a:prstGeom>
          <a:noFill/>
        </p:spPr>
        <p:txBody>
          <a:bodyPr wrap="square" lIns="45720" rIns="45720">
            <a:spAutoFit/>
          </a:bodyPr>
          <a:lstStyle/>
          <a:p>
            <a:pPr algn="ctr">
              <a:defRPr sz="2400" b="1">
                <a:solidFill>
                  <a:srgbClr val="F59C00"/>
                </a:solidFill>
                <a:latin typeface="Aptos"/>
              </a:defRPr>
            </a:pPr>
            <a:r>
              <a:rPr dirty="0"/>
              <a:t>2023–2025</a:t>
            </a:r>
          </a:p>
        </p:txBody>
      </p:sp>
      <p:sp>
        <p:nvSpPr>
          <p:cNvPr id="19" name="TextBox 18"/>
          <p:cNvSpPr txBox="1"/>
          <p:nvPr/>
        </p:nvSpPr>
        <p:spPr>
          <a:xfrm>
            <a:off x="8247890" y="5164094"/>
            <a:ext cx="2231136" cy="261610"/>
          </a:xfrm>
          <a:prstGeom prst="rect">
            <a:avLst/>
          </a:prstGeom>
          <a:noFill/>
        </p:spPr>
        <p:txBody>
          <a:bodyPr wrap="square" lIns="45720" rIns="45720">
            <a:spAutoFit/>
          </a:bodyPr>
          <a:lstStyle/>
          <a:p>
            <a:pPr algn="ctr">
              <a:defRPr sz="1000" b="0">
                <a:solidFill>
                  <a:srgbClr val="5B6977"/>
                </a:solidFill>
                <a:latin typeface="Aptos"/>
              </a:defRPr>
            </a:pPr>
            <a:r>
              <a:rPr sz="1100" dirty="0">
                <a:solidFill>
                  <a:srgbClr val="FF0000"/>
                </a:solidFill>
                <a:latin typeface="Aptos"/>
              </a:rPr>
              <a:t>observed</a:t>
            </a:r>
            <a:r>
              <a:rPr dirty="0">
                <a:solidFill>
                  <a:srgbClr val="FF0000"/>
                </a:solidFill>
              </a:rPr>
              <a:t> period</a:t>
            </a:r>
          </a:p>
        </p:txBody>
      </p:sp>
      <p:sp>
        <p:nvSpPr>
          <p:cNvPr id="21" name="Rounded Rectangle 20"/>
          <p:cNvSpPr/>
          <p:nvPr/>
        </p:nvSpPr>
        <p:spPr>
          <a:xfrm>
            <a:off x="1465503" y="4183829"/>
            <a:ext cx="2468880" cy="822960"/>
          </a:xfrm>
          <a:prstGeom prst="roundRect">
            <a:avLst/>
          </a:prstGeom>
          <a:solidFill>
            <a:srgbClr val="175490"/>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25AAA0"/>
                </a:solidFill>
                <a:latin typeface="Aptos"/>
              </a:defRPr>
            </a:pPr>
            <a:r>
              <a:rPr lang="en-SG" dirty="0" smtClean="0"/>
              <a:t>17,491</a:t>
            </a:r>
            <a:endParaRPr lang="en-SG" dirty="0"/>
          </a:p>
        </p:txBody>
      </p:sp>
      <p:sp>
        <p:nvSpPr>
          <p:cNvPr id="22" name="Rectangle 21"/>
          <p:cNvSpPr/>
          <p:nvPr/>
        </p:nvSpPr>
        <p:spPr>
          <a:xfrm>
            <a:off x="1333686" y="4183829"/>
            <a:ext cx="2702755" cy="79622"/>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EXECUTIVE SUMMARY</a:t>
            </a:r>
          </a:p>
        </p:txBody>
      </p:sp>
      <p:sp>
        <p:nvSpPr>
          <p:cNvPr id="3" name="TextBox 2"/>
          <p:cNvSpPr txBox="1"/>
          <p:nvPr/>
        </p:nvSpPr>
        <p:spPr>
          <a:xfrm>
            <a:off x="612648" y="678398"/>
            <a:ext cx="3518912" cy="507831"/>
          </a:xfrm>
          <a:prstGeom prst="rect">
            <a:avLst/>
          </a:prstGeom>
          <a:noFill/>
        </p:spPr>
        <p:txBody>
          <a:bodyPr wrap="none">
            <a:spAutoFit/>
          </a:bodyPr>
          <a:lstStyle/>
          <a:p>
            <a:pPr>
              <a:defRPr sz="2700" b="1">
                <a:solidFill>
                  <a:srgbClr val="0D2A56"/>
                </a:solidFill>
                <a:latin typeface="Aptos"/>
              </a:defRPr>
            </a:pPr>
            <a:r>
              <a:rPr lang="en-SG" dirty="0" smtClean="0"/>
              <a:t>What I Actually Built</a:t>
            </a:r>
            <a:endParaRPr lang="en-SG" dirty="0"/>
          </a:p>
        </p:txBody>
      </p:sp>
      <p:sp>
        <p:nvSpPr>
          <p:cNvPr id="4" name="TextBox 3"/>
          <p:cNvSpPr txBox="1"/>
          <p:nvPr/>
        </p:nvSpPr>
        <p:spPr>
          <a:xfrm>
            <a:off x="566928" y="1178856"/>
            <a:ext cx="10789920" cy="320040"/>
          </a:xfrm>
          <a:prstGeom prst="rect">
            <a:avLst/>
          </a:prstGeom>
          <a:noFill/>
        </p:spPr>
        <p:txBody>
          <a:bodyPr wrap="none">
            <a:spAutoFit/>
          </a:bodyPr>
          <a:lstStyle/>
          <a:p>
            <a:pPr>
              <a:defRPr sz="1200">
                <a:solidFill>
                  <a:srgbClr val="5B6977"/>
                </a:solidFill>
                <a:latin typeface="Aptos"/>
              </a:defRPr>
            </a:pPr>
            <a:r>
              <a:t>A practical analytics and decision-support solution for Telangana PDS operations</a:t>
            </a:r>
          </a:p>
        </p:txBody>
      </p:sp>
      <p:sp>
        <p:nvSpPr>
          <p:cNvPr id="5" name="Rectangle 4"/>
          <p:cNvSpPr/>
          <p:nvPr/>
        </p:nvSpPr>
        <p:spPr>
          <a:xfrm>
            <a:off x="566928" y="1553760"/>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02</a:t>
            </a:r>
          </a:p>
        </p:txBody>
      </p:sp>
      <p:sp>
        <p:nvSpPr>
          <p:cNvPr id="7" name="Rounded Rectangle 6"/>
          <p:cNvSpPr/>
          <p:nvPr/>
        </p:nvSpPr>
        <p:spPr>
          <a:xfrm>
            <a:off x="685800" y="1892088"/>
            <a:ext cx="3383280" cy="105156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92088"/>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2120688"/>
            <a:ext cx="3054096" cy="457200"/>
          </a:xfrm>
          <a:prstGeom prst="rect">
            <a:avLst/>
          </a:prstGeom>
          <a:noFill/>
        </p:spPr>
        <p:txBody>
          <a:bodyPr wrap="square" lIns="45720" rIns="45720">
            <a:spAutoFit/>
          </a:bodyPr>
          <a:lstStyle/>
          <a:p>
            <a:pPr algn="ctr">
              <a:defRPr sz="2400" b="1">
                <a:solidFill>
                  <a:srgbClr val="0078D4"/>
                </a:solidFill>
                <a:latin typeface="Aptos"/>
              </a:defRPr>
            </a:pPr>
            <a:r>
              <a:t>3</a:t>
            </a:r>
          </a:p>
        </p:txBody>
      </p:sp>
      <p:sp>
        <p:nvSpPr>
          <p:cNvPr id="10" name="TextBox 9"/>
          <p:cNvSpPr txBox="1"/>
          <p:nvPr/>
        </p:nvSpPr>
        <p:spPr>
          <a:xfrm>
            <a:off x="850392" y="2577888"/>
            <a:ext cx="3054096" cy="400110"/>
          </a:xfrm>
          <a:prstGeom prst="rect">
            <a:avLst/>
          </a:prstGeom>
          <a:noFill/>
        </p:spPr>
        <p:txBody>
          <a:bodyPr wrap="square" lIns="45720" rIns="45720">
            <a:spAutoFit/>
          </a:bodyPr>
          <a:lstStyle/>
          <a:p>
            <a:pPr algn="ctr">
              <a:defRPr sz="1000" b="0">
                <a:solidFill>
                  <a:srgbClr val="5B6977"/>
                </a:solidFill>
                <a:latin typeface="Aptos"/>
              </a:defRPr>
            </a:pPr>
            <a:r>
              <a:rPr lang="en-SG" sz="2000" dirty="0" smtClean="0"/>
              <a:t>Data Sources</a:t>
            </a:r>
            <a:endParaRPr lang="en-SG" sz="2000" dirty="0"/>
          </a:p>
        </p:txBody>
      </p:sp>
      <p:sp>
        <p:nvSpPr>
          <p:cNvPr id="11" name="Rounded Rectangle 10"/>
          <p:cNvSpPr/>
          <p:nvPr/>
        </p:nvSpPr>
        <p:spPr>
          <a:xfrm>
            <a:off x="4297680" y="1892088"/>
            <a:ext cx="3383280" cy="105156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1892088"/>
            <a:ext cx="3383280" cy="73152"/>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62272" y="2120688"/>
            <a:ext cx="3054096" cy="457200"/>
          </a:xfrm>
          <a:prstGeom prst="rect">
            <a:avLst/>
          </a:prstGeom>
          <a:noFill/>
        </p:spPr>
        <p:txBody>
          <a:bodyPr wrap="square" lIns="45720" rIns="45720">
            <a:spAutoFit/>
          </a:bodyPr>
          <a:lstStyle/>
          <a:p>
            <a:pPr algn="ctr">
              <a:defRPr sz="2400" b="1">
                <a:solidFill>
                  <a:srgbClr val="25AAA0"/>
                </a:solidFill>
                <a:latin typeface="Aptos"/>
              </a:defRPr>
            </a:pPr>
            <a:r>
              <a:t>4</a:t>
            </a:r>
          </a:p>
        </p:txBody>
      </p:sp>
      <p:sp>
        <p:nvSpPr>
          <p:cNvPr id="14" name="TextBox 13"/>
          <p:cNvSpPr txBox="1"/>
          <p:nvPr/>
        </p:nvSpPr>
        <p:spPr>
          <a:xfrm>
            <a:off x="4462272" y="2577888"/>
            <a:ext cx="3054096" cy="400110"/>
          </a:xfrm>
          <a:prstGeom prst="rect">
            <a:avLst/>
          </a:prstGeom>
          <a:noFill/>
        </p:spPr>
        <p:txBody>
          <a:bodyPr wrap="square" lIns="45720" rIns="45720">
            <a:spAutoFit/>
          </a:bodyPr>
          <a:lstStyle/>
          <a:p>
            <a:pPr algn="ctr">
              <a:defRPr sz="1000" b="0">
                <a:solidFill>
                  <a:srgbClr val="5B6977"/>
                </a:solidFill>
                <a:latin typeface="Aptos"/>
              </a:defRPr>
            </a:pPr>
            <a:r>
              <a:rPr sz="2000" dirty="0">
                <a:solidFill>
                  <a:srgbClr val="5B6977"/>
                </a:solidFill>
                <a:latin typeface="Aptos"/>
              </a:rPr>
              <a:t>K-Means</a:t>
            </a:r>
            <a:r>
              <a:rPr dirty="0"/>
              <a:t> </a:t>
            </a:r>
            <a:r>
              <a:rPr lang="en-SG" sz="2000" dirty="0">
                <a:solidFill>
                  <a:srgbClr val="5B6977"/>
                </a:solidFill>
                <a:latin typeface="Aptos"/>
              </a:rPr>
              <a:t>G</a:t>
            </a:r>
            <a:r>
              <a:rPr sz="2000" dirty="0" err="1" smtClean="0">
                <a:solidFill>
                  <a:srgbClr val="5B6977"/>
                </a:solidFill>
                <a:latin typeface="Aptos"/>
              </a:rPr>
              <a:t>roups</a:t>
            </a:r>
            <a:endParaRPr sz="2000" dirty="0">
              <a:solidFill>
                <a:srgbClr val="5B6977"/>
              </a:solidFill>
              <a:latin typeface="Aptos"/>
            </a:endParaRPr>
          </a:p>
        </p:txBody>
      </p:sp>
      <p:sp>
        <p:nvSpPr>
          <p:cNvPr id="15" name="Rounded Rectangle 14"/>
          <p:cNvSpPr/>
          <p:nvPr/>
        </p:nvSpPr>
        <p:spPr>
          <a:xfrm>
            <a:off x="7909560" y="1892088"/>
            <a:ext cx="3383280" cy="105156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09560" y="1892088"/>
            <a:ext cx="3383280" cy="73152"/>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74152" y="2120688"/>
            <a:ext cx="3054096" cy="457200"/>
          </a:xfrm>
          <a:prstGeom prst="rect">
            <a:avLst/>
          </a:prstGeom>
          <a:noFill/>
        </p:spPr>
        <p:txBody>
          <a:bodyPr wrap="square" lIns="45720" rIns="45720">
            <a:spAutoFit/>
          </a:bodyPr>
          <a:lstStyle/>
          <a:p>
            <a:pPr algn="ctr">
              <a:defRPr sz="2400" b="1">
                <a:solidFill>
                  <a:srgbClr val="F59C00"/>
                </a:solidFill>
                <a:latin typeface="Aptos"/>
              </a:defRPr>
            </a:pPr>
            <a:r>
              <a:t>1</a:t>
            </a:r>
          </a:p>
        </p:txBody>
      </p:sp>
      <p:sp>
        <p:nvSpPr>
          <p:cNvPr id="18" name="TextBox 17"/>
          <p:cNvSpPr txBox="1"/>
          <p:nvPr/>
        </p:nvSpPr>
        <p:spPr>
          <a:xfrm>
            <a:off x="8074152" y="2526363"/>
            <a:ext cx="3054096" cy="400110"/>
          </a:xfrm>
          <a:prstGeom prst="rect">
            <a:avLst/>
          </a:prstGeom>
          <a:noFill/>
        </p:spPr>
        <p:txBody>
          <a:bodyPr wrap="square" lIns="45720" rIns="45720">
            <a:spAutoFit/>
          </a:bodyPr>
          <a:lstStyle/>
          <a:p>
            <a:pPr algn="ctr">
              <a:defRPr sz="1000" b="0">
                <a:solidFill>
                  <a:srgbClr val="5B6977"/>
                </a:solidFill>
                <a:latin typeface="Aptos"/>
              </a:defRPr>
            </a:pPr>
            <a:r>
              <a:rPr sz="2000" dirty="0" smtClean="0">
                <a:solidFill>
                  <a:srgbClr val="5B6977"/>
                </a:solidFill>
                <a:latin typeface="Aptos"/>
              </a:rPr>
              <a:t>Stream</a:t>
            </a:r>
            <a:r>
              <a:rPr lang="en-SG" sz="2000" dirty="0" smtClean="0">
                <a:solidFill>
                  <a:srgbClr val="5B6977"/>
                </a:solidFill>
                <a:latin typeface="Aptos"/>
              </a:rPr>
              <a:t>-</a:t>
            </a:r>
            <a:r>
              <a:rPr sz="2000" dirty="0" smtClean="0">
                <a:solidFill>
                  <a:srgbClr val="5B6977"/>
                </a:solidFill>
                <a:latin typeface="Aptos"/>
              </a:rPr>
              <a:t>lit</a:t>
            </a:r>
            <a:r>
              <a:rPr dirty="0" smtClean="0"/>
              <a:t> </a:t>
            </a:r>
            <a:r>
              <a:rPr lang="en-SG" sz="2000" dirty="0">
                <a:solidFill>
                  <a:srgbClr val="5B6977"/>
                </a:solidFill>
                <a:latin typeface="Aptos"/>
              </a:rPr>
              <a:t>A</a:t>
            </a:r>
            <a:r>
              <a:rPr sz="2000" dirty="0" smtClean="0">
                <a:solidFill>
                  <a:srgbClr val="5B6977"/>
                </a:solidFill>
                <a:latin typeface="Aptos"/>
              </a:rPr>
              <a:t>pp</a:t>
            </a:r>
            <a:endParaRPr sz="2000" dirty="0">
              <a:solidFill>
                <a:srgbClr val="5B6977"/>
              </a:solidFill>
              <a:latin typeface="Aptos"/>
            </a:endParaRPr>
          </a:p>
        </p:txBody>
      </p:sp>
      <p:sp>
        <p:nvSpPr>
          <p:cNvPr id="19" name="Rounded Rectangle 18"/>
          <p:cNvSpPr/>
          <p:nvPr/>
        </p:nvSpPr>
        <p:spPr>
          <a:xfrm>
            <a:off x="685800" y="3355128"/>
            <a:ext cx="3383280" cy="20574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355128"/>
            <a:ext cx="73152" cy="2057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492288"/>
            <a:ext cx="3063240" cy="584775"/>
          </a:xfrm>
          <a:prstGeom prst="rect">
            <a:avLst/>
          </a:prstGeom>
          <a:noFill/>
        </p:spPr>
        <p:txBody>
          <a:bodyPr wrap="square" lIns="45720" rIns="45720">
            <a:spAutoFit/>
          </a:bodyPr>
          <a:lstStyle/>
          <a:p>
            <a:pPr algn="ctr">
              <a:defRPr sz="1300" b="1">
                <a:solidFill>
                  <a:srgbClr val="0D2A56"/>
                </a:solidFill>
                <a:latin typeface="Aptos"/>
              </a:defRPr>
            </a:pPr>
            <a:r>
              <a:rPr sz="3200" dirty="0"/>
              <a:t>Data </a:t>
            </a:r>
            <a:r>
              <a:rPr lang="en-SG" sz="3200" dirty="0" smtClean="0"/>
              <a:t>P</a:t>
            </a:r>
            <a:r>
              <a:rPr sz="3200" dirty="0" err="1" smtClean="0"/>
              <a:t>ipeline</a:t>
            </a:r>
            <a:endParaRPr sz="3200" dirty="0"/>
          </a:p>
        </p:txBody>
      </p:sp>
      <p:sp>
        <p:nvSpPr>
          <p:cNvPr id="22" name="TextBox 21"/>
          <p:cNvSpPr txBox="1"/>
          <p:nvPr/>
        </p:nvSpPr>
        <p:spPr>
          <a:xfrm>
            <a:off x="882396" y="4043295"/>
            <a:ext cx="3063240" cy="1323439"/>
          </a:xfrm>
          <a:prstGeom prst="rect">
            <a:avLst/>
          </a:prstGeom>
          <a:noFill/>
        </p:spPr>
        <p:txBody>
          <a:bodyPr wrap="square" lIns="45720" rIns="45720">
            <a:spAutoFit/>
          </a:bodyPr>
          <a:lstStyle/>
          <a:p>
            <a:pPr algn="ctr">
              <a:defRPr sz="1000" b="0">
                <a:solidFill>
                  <a:srgbClr val="1F2B39"/>
                </a:solidFill>
                <a:latin typeface="Aptos"/>
              </a:defRPr>
            </a:pPr>
            <a:r>
              <a:rPr sz="1600" dirty="0"/>
              <a:t>Transactional records, card status, and shop locations were consolidated into a shop-month master table and saved for analysis.</a:t>
            </a:r>
          </a:p>
        </p:txBody>
      </p:sp>
      <p:sp>
        <p:nvSpPr>
          <p:cNvPr id="23" name="Rounded Rectangle 22"/>
          <p:cNvSpPr/>
          <p:nvPr/>
        </p:nvSpPr>
        <p:spPr>
          <a:xfrm>
            <a:off x="4297680" y="3355128"/>
            <a:ext cx="3383280" cy="20574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97680" y="3355128"/>
            <a:ext cx="73152" cy="205740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98848" y="3492288"/>
            <a:ext cx="3063240" cy="584775"/>
          </a:xfrm>
          <a:prstGeom prst="rect">
            <a:avLst/>
          </a:prstGeom>
          <a:noFill/>
        </p:spPr>
        <p:txBody>
          <a:bodyPr wrap="square" lIns="45720" rIns="45720">
            <a:spAutoFit/>
          </a:bodyPr>
          <a:lstStyle/>
          <a:p>
            <a:pPr algn="l">
              <a:defRPr sz="1300" b="1">
                <a:solidFill>
                  <a:srgbClr val="0D2A56"/>
                </a:solidFill>
                <a:latin typeface="Aptos"/>
              </a:defRPr>
            </a:pPr>
            <a:r>
              <a:rPr sz="3200" dirty="0"/>
              <a:t>Analytics &amp; ML</a:t>
            </a:r>
          </a:p>
        </p:txBody>
      </p:sp>
      <p:sp>
        <p:nvSpPr>
          <p:cNvPr id="26" name="TextBox 25"/>
          <p:cNvSpPr txBox="1"/>
          <p:nvPr/>
        </p:nvSpPr>
        <p:spPr>
          <a:xfrm>
            <a:off x="4526280" y="4038890"/>
            <a:ext cx="3063240" cy="1077218"/>
          </a:xfrm>
          <a:prstGeom prst="rect">
            <a:avLst/>
          </a:prstGeom>
          <a:noFill/>
        </p:spPr>
        <p:txBody>
          <a:bodyPr wrap="square" lIns="45720" rIns="45720">
            <a:spAutoFit/>
          </a:bodyPr>
          <a:lstStyle/>
          <a:p>
            <a:pPr algn="ctr">
              <a:defRPr sz="1000" b="0">
                <a:solidFill>
                  <a:srgbClr val="1F2B39"/>
                </a:solidFill>
                <a:latin typeface="Aptos"/>
              </a:defRPr>
            </a:pPr>
            <a:r>
              <a:rPr sz="1600" dirty="0"/>
              <a:t>Shop-level features were created, standardized, clustered with K-Means, and profiled with DBSCAN.</a:t>
            </a:r>
          </a:p>
        </p:txBody>
      </p:sp>
      <p:sp>
        <p:nvSpPr>
          <p:cNvPr id="27" name="Rounded Rectangle 26"/>
          <p:cNvSpPr/>
          <p:nvPr/>
        </p:nvSpPr>
        <p:spPr>
          <a:xfrm>
            <a:off x="7909560" y="3355128"/>
            <a:ext cx="3383280" cy="20574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909560" y="3355128"/>
            <a:ext cx="73152" cy="205740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10728" y="3492288"/>
            <a:ext cx="3502152" cy="553998"/>
          </a:xfrm>
          <a:prstGeom prst="rect">
            <a:avLst/>
          </a:prstGeom>
          <a:noFill/>
        </p:spPr>
        <p:txBody>
          <a:bodyPr wrap="square" lIns="45720" rIns="45720">
            <a:spAutoFit/>
          </a:bodyPr>
          <a:lstStyle/>
          <a:p>
            <a:pPr algn="l">
              <a:defRPr sz="1300" b="1">
                <a:solidFill>
                  <a:srgbClr val="0D2A56"/>
                </a:solidFill>
                <a:latin typeface="Aptos"/>
              </a:defRPr>
            </a:pPr>
            <a:r>
              <a:rPr sz="3000" dirty="0"/>
              <a:t>Decision </a:t>
            </a:r>
            <a:r>
              <a:rPr lang="en-SG" sz="3000" dirty="0" smtClean="0"/>
              <a:t>S</a:t>
            </a:r>
            <a:r>
              <a:rPr sz="3000" dirty="0" err="1" smtClean="0"/>
              <a:t>upport</a:t>
            </a:r>
            <a:endParaRPr sz="3000" dirty="0"/>
          </a:p>
        </p:txBody>
      </p:sp>
      <p:sp>
        <p:nvSpPr>
          <p:cNvPr id="30" name="TextBox 29"/>
          <p:cNvSpPr txBox="1"/>
          <p:nvPr/>
        </p:nvSpPr>
        <p:spPr>
          <a:xfrm>
            <a:off x="8110728" y="4130609"/>
            <a:ext cx="3063240" cy="830997"/>
          </a:xfrm>
          <a:prstGeom prst="rect">
            <a:avLst/>
          </a:prstGeom>
          <a:noFill/>
        </p:spPr>
        <p:txBody>
          <a:bodyPr wrap="square" lIns="45720" rIns="45720">
            <a:spAutoFit/>
          </a:bodyPr>
          <a:lstStyle/>
          <a:p>
            <a:pPr algn="ctr">
              <a:defRPr sz="1000" b="0">
                <a:solidFill>
                  <a:srgbClr val="1F2B39"/>
                </a:solidFill>
                <a:latin typeface="Aptos"/>
              </a:defRPr>
            </a:pPr>
            <a:r>
              <a:rPr sz="1600" dirty="0"/>
              <a:t>District, cluster, anomaly, and shop filters provide a dashboard for review and audit.</a:t>
            </a:r>
          </a:p>
        </p:txBody>
      </p:sp>
      <p:sp>
        <p:nvSpPr>
          <p:cNvPr id="31" name="TextBox 30"/>
          <p:cNvSpPr txBox="1"/>
          <p:nvPr/>
        </p:nvSpPr>
        <p:spPr>
          <a:xfrm>
            <a:off x="685800" y="5667538"/>
            <a:ext cx="10762488" cy="707886"/>
          </a:xfrm>
          <a:prstGeom prst="rect">
            <a:avLst/>
          </a:prstGeom>
          <a:noFill/>
        </p:spPr>
        <p:txBody>
          <a:bodyPr wrap="square" lIns="45720" rIns="45720">
            <a:spAutoFit/>
          </a:bodyPr>
          <a:lstStyle/>
          <a:p>
            <a:pPr algn="ctr">
              <a:defRPr sz="1200" b="1">
                <a:solidFill>
                  <a:srgbClr val="0D2A56"/>
                </a:solidFill>
                <a:latin typeface="Aptos"/>
              </a:defRPr>
            </a:pPr>
            <a:r>
              <a:rPr sz="2000" dirty="0"/>
              <a:t>Outcome: evidence for understanding shop behavior, identifying unusual </a:t>
            </a:r>
            <a:r>
              <a:rPr sz="2000" dirty="0" smtClean="0"/>
              <a:t>profiles</a:t>
            </a:r>
            <a:endParaRPr lang="en-SG" sz="2000" dirty="0" smtClean="0"/>
          </a:p>
          <a:p>
            <a:pPr algn="ctr">
              <a:defRPr sz="1200" b="1">
                <a:solidFill>
                  <a:srgbClr val="0D2A56"/>
                </a:solidFill>
                <a:latin typeface="Aptos"/>
              </a:defRPr>
            </a:pPr>
            <a:r>
              <a:rPr sz="2000" dirty="0" smtClean="0"/>
              <a:t>and </a:t>
            </a:r>
            <a:r>
              <a:rPr sz="2000" dirty="0"/>
              <a:t>supporting investigation—not automatic operational decisions.</a:t>
            </a:r>
          </a:p>
        </p:txBody>
      </p:sp>
      <p:sp>
        <p:nvSpPr>
          <p:cNvPr id="32" name="TextBox 3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rPr dirty="0"/>
              <a:t>Telangana PDS Analytics | Data-to-decision platform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174787"/>
            <a:ext cx="6217920" cy="256032"/>
          </a:xfrm>
          <a:prstGeom prst="rect">
            <a:avLst/>
          </a:prstGeom>
          <a:noFill/>
        </p:spPr>
        <p:txBody>
          <a:bodyPr wrap="none">
            <a:spAutoFit/>
          </a:bodyPr>
          <a:lstStyle/>
          <a:p>
            <a:pPr>
              <a:defRPr sz="900" b="1">
                <a:solidFill>
                  <a:srgbClr val="0078D4"/>
                </a:solidFill>
                <a:latin typeface="Aptos"/>
              </a:defRPr>
            </a:pPr>
            <a:r>
              <a:t>BUSINESS CONTEXT</a:t>
            </a:r>
          </a:p>
        </p:txBody>
      </p:sp>
      <p:sp>
        <p:nvSpPr>
          <p:cNvPr id="3" name="TextBox 2"/>
          <p:cNvSpPr txBox="1"/>
          <p:nvPr/>
        </p:nvSpPr>
        <p:spPr>
          <a:xfrm>
            <a:off x="566928" y="627415"/>
            <a:ext cx="5788764" cy="507831"/>
          </a:xfrm>
          <a:prstGeom prst="rect">
            <a:avLst/>
          </a:prstGeom>
          <a:noFill/>
        </p:spPr>
        <p:txBody>
          <a:bodyPr wrap="none">
            <a:spAutoFit/>
          </a:bodyPr>
          <a:lstStyle/>
          <a:p>
            <a:pPr>
              <a:defRPr sz="2700" b="1">
                <a:solidFill>
                  <a:srgbClr val="0D2A56"/>
                </a:solidFill>
                <a:latin typeface="Aptos"/>
              </a:defRPr>
            </a:pPr>
            <a:r>
              <a:rPr lang="en-US" dirty="0" smtClean="0"/>
              <a:t>The Business And Social Problem</a:t>
            </a:r>
            <a:endParaRPr lang="en-US" dirty="0"/>
          </a:p>
        </p:txBody>
      </p:sp>
      <p:sp>
        <p:nvSpPr>
          <p:cNvPr id="4" name="TextBox 3"/>
          <p:cNvSpPr txBox="1"/>
          <p:nvPr/>
        </p:nvSpPr>
        <p:spPr>
          <a:xfrm>
            <a:off x="612648" y="1025879"/>
            <a:ext cx="10789920" cy="320040"/>
          </a:xfrm>
          <a:prstGeom prst="rect">
            <a:avLst/>
          </a:prstGeom>
          <a:noFill/>
        </p:spPr>
        <p:txBody>
          <a:bodyPr wrap="none">
            <a:spAutoFit/>
          </a:bodyPr>
          <a:lstStyle/>
          <a:p>
            <a:pPr>
              <a:defRPr sz="1200">
                <a:solidFill>
                  <a:srgbClr val="5B6977"/>
                </a:solidFill>
                <a:latin typeface="Aptos"/>
              </a:defRPr>
            </a:pPr>
            <a:r>
              <a:rPr dirty="0"/>
              <a:t>Why the project matters for Telangana PDS</a:t>
            </a:r>
          </a:p>
        </p:txBody>
      </p:sp>
      <p:sp>
        <p:nvSpPr>
          <p:cNvPr id="5" name="Rectangle 4"/>
          <p:cNvSpPr/>
          <p:nvPr/>
        </p:nvSpPr>
        <p:spPr>
          <a:xfrm>
            <a:off x="571500" y="1300548"/>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03</a:t>
            </a:r>
          </a:p>
        </p:txBody>
      </p:sp>
      <p:sp>
        <p:nvSpPr>
          <p:cNvPr id="7" name="TextBox 6"/>
          <p:cNvSpPr txBox="1"/>
          <p:nvPr/>
        </p:nvSpPr>
        <p:spPr>
          <a:xfrm>
            <a:off x="565345" y="1834205"/>
            <a:ext cx="5120640" cy="707886"/>
          </a:xfrm>
          <a:prstGeom prst="rect">
            <a:avLst/>
          </a:prstGeom>
          <a:noFill/>
        </p:spPr>
        <p:txBody>
          <a:bodyPr wrap="square" lIns="45720" rIns="45720">
            <a:spAutoFit/>
          </a:bodyPr>
          <a:lstStyle/>
          <a:p>
            <a:pPr algn="ctr">
              <a:defRPr sz="2000" b="1">
                <a:solidFill>
                  <a:srgbClr val="0D2A56"/>
                </a:solidFill>
                <a:latin typeface="Aptos"/>
              </a:defRPr>
            </a:pPr>
            <a:r>
              <a:rPr dirty="0"/>
              <a:t>A distribution system must make grains available, carefully, and consistently.</a:t>
            </a:r>
          </a:p>
        </p:txBody>
      </p:sp>
      <p:sp>
        <p:nvSpPr>
          <p:cNvPr id="8" name="TextBox 7"/>
          <p:cNvSpPr txBox="1"/>
          <p:nvPr/>
        </p:nvSpPr>
        <p:spPr>
          <a:xfrm>
            <a:off x="923192" y="2861444"/>
            <a:ext cx="4762793" cy="2312941"/>
          </a:xfrm>
          <a:prstGeom prst="rect">
            <a:avLst/>
          </a:prstGeom>
          <a:noFill/>
        </p:spPr>
        <p:txBody>
          <a:bodyPr wrap="square" lIns="73152" tIns="36576" rIns="73152" bIns="36576">
            <a:spAutoFit/>
          </a:bodyPr>
          <a:lstStyle/>
          <a:p>
            <a:pPr>
              <a:spcAft>
                <a:spcPts val="700"/>
              </a:spcAft>
              <a:defRPr sz="1300">
                <a:solidFill>
                  <a:srgbClr val="1F2B39"/>
                </a:solidFill>
                <a:latin typeface="Aptos"/>
              </a:defRPr>
            </a:pPr>
            <a:r>
              <a:rPr sz="1600" dirty="0"/>
              <a:t>•  Many shops, districts, and monthly transactions create complicated patterns.</a:t>
            </a:r>
          </a:p>
          <a:p>
            <a:pPr>
              <a:spcAft>
                <a:spcPts val="700"/>
              </a:spcAft>
              <a:defRPr sz="1300">
                <a:solidFill>
                  <a:srgbClr val="1F2B39"/>
                </a:solidFill>
                <a:latin typeface="Aptos"/>
              </a:defRPr>
            </a:pPr>
            <a:r>
              <a:rPr sz="1600" dirty="0"/>
              <a:t>•  It is difficult to spot unusual shop behavior without structured analysis.</a:t>
            </a:r>
          </a:p>
          <a:p>
            <a:pPr>
              <a:spcAft>
                <a:spcPts val="700"/>
              </a:spcAft>
              <a:defRPr sz="1300">
                <a:solidFill>
                  <a:srgbClr val="1F2B39"/>
                </a:solidFill>
                <a:latin typeface="Aptos"/>
              </a:defRPr>
            </a:pPr>
            <a:r>
              <a:rPr sz="1600" dirty="0"/>
              <a:t>•  Policy changes such as portability can affect shop-level demand and operations.</a:t>
            </a:r>
          </a:p>
          <a:p>
            <a:pPr>
              <a:spcAft>
                <a:spcPts val="700"/>
              </a:spcAft>
              <a:defRPr sz="1300">
                <a:solidFill>
                  <a:srgbClr val="1F2B39"/>
                </a:solidFill>
                <a:latin typeface="Aptos"/>
              </a:defRPr>
            </a:pPr>
            <a:r>
              <a:rPr sz="1600" dirty="0"/>
              <a:t>•  Decision-makers need a clear way to investigate, compare, and monitor behavior.</a:t>
            </a:r>
          </a:p>
        </p:txBody>
      </p:sp>
      <p:sp>
        <p:nvSpPr>
          <p:cNvPr id="9" name="Rounded Rectangle 8"/>
          <p:cNvSpPr/>
          <p:nvPr/>
        </p:nvSpPr>
        <p:spPr>
          <a:xfrm>
            <a:off x="6080760" y="1798906"/>
            <a:ext cx="4681025"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80760" y="1798906"/>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1834205"/>
            <a:ext cx="4800600" cy="584775"/>
          </a:xfrm>
          <a:prstGeom prst="rect">
            <a:avLst/>
          </a:prstGeom>
          <a:noFill/>
        </p:spPr>
        <p:txBody>
          <a:bodyPr wrap="square" lIns="45720" rIns="45720">
            <a:spAutoFit/>
          </a:bodyPr>
          <a:lstStyle/>
          <a:p>
            <a:pPr algn="l">
              <a:defRPr sz="1300" b="1">
                <a:solidFill>
                  <a:srgbClr val="0D2A56"/>
                </a:solidFill>
                <a:latin typeface="Aptos"/>
              </a:defRPr>
            </a:pPr>
            <a:r>
              <a:rPr sz="3200" dirty="0"/>
              <a:t>Who is affected?</a:t>
            </a:r>
          </a:p>
        </p:txBody>
      </p:sp>
      <p:sp>
        <p:nvSpPr>
          <p:cNvPr id="12" name="TextBox 11"/>
          <p:cNvSpPr txBox="1"/>
          <p:nvPr/>
        </p:nvSpPr>
        <p:spPr>
          <a:xfrm>
            <a:off x="6181343" y="2591841"/>
            <a:ext cx="4479857" cy="830997"/>
          </a:xfrm>
          <a:prstGeom prst="rect">
            <a:avLst/>
          </a:prstGeom>
          <a:noFill/>
        </p:spPr>
        <p:txBody>
          <a:bodyPr wrap="square" lIns="45720" rIns="45720">
            <a:spAutoFit/>
          </a:bodyPr>
          <a:lstStyle/>
          <a:p>
            <a:pPr algn="ctr">
              <a:defRPr sz="1000" b="0">
                <a:solidFill>
                  <a:srgbClr val="1F2B39"/>
                </a:solidFill>
                <a:latin typeface="Aptos"/>
              </a:defRPr>
            </a:pPr>
            <a:r>
              <a:rPr sz="1600" dirty="0"/>
              <a:t>Government officials, distribution planners, district teams, shop operators, researchers, and analysts who need reliable evidence.</a:t>
            </a:r>
          </a:p>
        </p:txBody>
      </p:sp>
      <p:sp>
        <p:nvSpPr>
          <p:cNvPr id="13" name="Rounded Rectangle 12"/>
          <p:cNvSpPr/>
          <p:nvPr/>
        </p:nvSpPr>
        <p:spPr>
          <a:xfrm>
            <a:off x="6080760" y="3821130"/>
            <a:ext cx="4681025" cy="16002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3821130"/>
            <a:ext cx="73152" cy="160020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3461" y="3835866"/>
            <a:ext cx="4800600" cy="584775"/>
          </a:xfrm>
          <a:prstGeom prst="rect">
            <a:avLst/>
          </a:prstGeom>
          <a:noFill/>
        </p:spPr>
        <p:txBody>
          <a:bodyPr wrap="square" lIns="45720" rIns="45720">
            <a:spAutoFit/>
          </a:bodyPr>
          <a:lstStyle/>
          <a:p>
            <a:pPr algn="l">
              <a:defRPr sz="1300" b="1">
                <a:solidFill>
                  <a:srgbClr val="0D2A56"/>
                </a:solidFill>
                <a:latin typeface="Aptos"/>
              </a:defRPr>
            </a:pPr>
            <a:r>
              <a:rPr sz="3200" dirty="0"/>
              <a:t>What we asked</a:t>
            </a:r>
          </a:p>
        </p:txBody>
      </p:sp>
      <p:sp>
        <p:nvSpPr>
          <p:cNvPr id="16" name="TextBox 15"/>
          <p:cNvSpPr txBox="1"/>
          <p:nvPr/>
        </p:nvSpPr>
        <p:spPr>
          <a:xfrm>
            <a:off x="6341365" y="4372711"/>
            <a:ext cx="4420420" cy="830997"/>
          </a:xfrm>
          <a:prstGeom prst="rect">
            <a:avLst/>
          </a:prstGeom>
          <a:noFill/>
        </p:spPr>
        <p:txBody>
          <a:bodyPr wrap="square" lIns="45720" rIns="45720">
            <a:spAutoFit/>
          </a:bodyPr>
          <a:lstStyle/>
          <a:p>
            <a:pPr algn="ctr">
              <a:defRPr sz="1000" b="0">
                <a:solidFill>
                  <a:srgbClr val="1F2B39"/>
                </a:solidFill>
                <a:latin typeface="Aptos"/>
              </a:defRPr>
            </a:pPr>
            <a:r>
              <a:rPr sz="1600" dirty="0"/>
              <a:t>Can we understand behavioral differences, detect unusual profiles, and make the results available for review?</a:t>
            </a:r>
          </a:p>
        </p:txBody>
      </p:sp>
      <p:sp>
        <p:nvSpPr>
          <p:cNvPr id="17" name="TextBox 16"/>
          <p:cNvSpPr txBox="1"/>
          <p:nvPr/>
        </p:nvSpPr>
        <p:spPr>
          <a:xfrm>
            <a:off x="685800" y="5825779"/>
            <a:ext cx="10515600" cy="411480"/>
          </a:xfrm>
          <a:prstGeom prst="rect">
            <a:avLst/>
          </a:prstGeom>
          <a:noFill/>
        </p:spPr>
        <p:txBody>
          <a:bodyPr wrap="square" lIns="45720" rIns="45720">
            <a:spAutoFit/>
          </a:bodyPr>
          <a:lstStyle/>
          <a:p>
            <a:pPr algn="l">
              <a:defRPr sz="1400" b="1">
                <a:solidFill>
                  <a:srgbClr val="D34545"/>
                </a:solidFill>
                <a:latin typeface="Aptos"/>
              </a:defRPr>
            </a:pPr>
            <a:r>
              <a:rPr dirty="0"/>
              <a:t>Without this evidence, distribution activity can be treated as a single average, hiding regional and shop-level differences.</a:t>
            </a:r>
          </a:p>
        </p:txBody>
      </p:sp>
      <p:sp>
        <p:nvSpPr>
          <p:cNvPr id="18" name="TextBox 17"/>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DATA SOURCES AND GRANULARITY</a:t>
            </a:r>
          </a:p>
        </p:txBody>
      </p:sp>
      <p:sp>
        <p:nvSpPr>
          <p:cNvPr id="3" name="TextBox 2"/>
          <p:cNvSpPr txBox="1"/>
          <p:nvPr/>
        </p:nvSpPr>
        <p:spPr>
          <a:xfrm>
            <a:off x="566928" y="576441"/>
            <a:ext cx="5908156" cy="584775"/>
          </a:xfrm>
          <a:prstGeom prst="rect">
            <a:avLst/>
          </a:prstGeom>
          <a:noFill/>
        </p:spPr>
        <p:txBody>
          <a:bodyPr wrap="none">
            <a:spAutoFit/>
          </a:bodyPr>
          <a:lstStyle/>
          <a:p>
            <a:pPr>
              <a:defRPr sz="2700" b="1">
                <a:solidFill>
                  <a:srgbClr val="0D2A56"/>
                </a:solidFill>
                <a:latin typeface="Aptos"/>
              </a:defRPr>
            </a:pPr>
            <a:r>
              <a:rPr lang="en-SG" sz="3200" dirty="0" smtClean="0"/>
              <a:t>Dataset, Scale, And Structure</a:t>
            </a:r>
            <a:endParaRPr lang="en-SG" sz="3200" dirty="0"/>
          </a:p>
        </p:txBody>
      </p:sp>
      <p:sp>
        <p:nvSpPr>
          <p:cNvPr id="4" name="TextBox 3"/>
          <p:cNvSpPr txBox="1"/>
          <p:nvPr/>
        </p:nvSpPr>
        <p:spPr>
          <a:xfrm>
            <a:off x="566928" y="1068009"/>
            <a:ext cx="10789920" cy="320040"/>
          </a:xfrm>
          <a:prstGeom prst="rect">
            <a:avLst/>
          </a:prstGeom>
          <a:noFill/>
        </p:spPr>
        <p:txBody>
          <a:bodyPr wrap="none">
            <a:spAutoFit/>
          </a:bodyPr>
          <a:lstStyle/>
          <a:p>
            <a:pPr>
              <a:defRPr sz="1200">
                <a:solidFill>
                  <a:srgbClr val="5B6977"/>
                </a:solidFill>
                <a:latin typeface="Aptos"/>
              </a:defRPr>
            </a:pPr>
            <a:r>
              <a:rPr dirty="0"/>
              <a:t>Three source tables become one analysis-ready view</a:t>
            </a:r>
          </a:p>
        </p:txBody>
      </p:sp>
      <p:sp>
        <p:nvSpPr>
          <p:cNvPr id="5" name="Rectangle 4"/>
          <p:cNvSpPr/>
          <p:nvPr/>
        </p:nvSpPr>
        <p:spPr>
          <a:xfrm>
            <a:off x="566928" y="1349187"/>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04</a:t>
            </a:r>
          </a:p>
        </p:txBody>
      </p:sp>
      <p:sp>
        <p:nvSpPr>
          <p:cNvPr id="7" name="Rounded Rectangle 6"/>
          <p:cNvSpPr/>
          <p:nvPr/>
        </p:nvSpPr>
        <p:spPr>
          <a:xfrm>
            <a:off x="685800" y="1885061"/>
            <a:ext cx="3337560" cy="15087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885061"/>
            <a:ext cx="73152" cy="15087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0412" y="1886200"/>
            <a:ext cx="3017520" cy="584775"/>
          </a:xfrm>
          <a:prstGeom prst="rect">
            <a:avLst/>
          </a:prstGeom>
          <a:noFill/>
        </p:spPr>
        <p:txBody>
          <a:bodyPr wrap="square" lIns="45720" rIns="45720">
            <a:spAutoFit/>
          </a:bodyPr>
          <a:lstStyle/>
          <a:p>
            <a:pPr algn="l">
              <a:defRPr sz="1300" b="1">
                <a:solidFill>
                  <a:srgbClr val="0D2A56"/>
                </a:solidFill>
                <a:latin typeface="Aptos"/>
              </a:defRPr>
            </a:pPr>
            <a:r>
              <a:rPr sz="3200" dirty="0"/>
              <a:t>Transactions</a:t>
            </a:r>
          </a:p>
        </p:txBody>
      </p:sp>
      <p:sp>
        <p:nvSpPr>
          <p:cNvPr id="10" name="TextBox 9"/>
          <p:cNvSpPr txBox="1"/>
          <p:nvPr/>
        </p:nvSpPr>
        <p:spPr>
          <a:xfrm>
            <a:off x="758952" y="2439551"/>
            <a:ext cx="3218688" cy="784830"/>
          </a:xfrm>
          <a:prstGeom prst="rect">
            <a:avLst/>
          </a:prstGeom>
          <a:noFill/>
        </p:spPr>
        <p:txBody>
          <a:bodyPr wrap="square" lIns="45720" rIns="45720">
            <a:spAutoFit/>
          </a:bodyPr>
          <a:lstStyle/>
          <a:p>
            <a:pPr algn="ctr">
              <a:defRPr sz="1000" b="0">
                <a:solidFill>
                  <a:srgbClr val="1F2B39"/>
                </a:solidFill>
                <a:latin typeface="Aptos"/>
              </a:defRPr>
            </a:pPr>
            <a:r>
              <a:rPr sz="1500" dirty="0"/>
              <a:t>Monthly shop transaction activity: ration cards, units, rice/wheat/sugar, and other-shop counts.</a:t>
            </a:r>
          </a:p>
        </p:txBody>
      </p:sp>
      <p:sp>
        <p:nvSpPr>
          <p:cNvPr id="11" name="Rounded Rectangle 10"/>
          <p:cNvSpPr/>
          <p:nvPr/>
        </p:nvSpPr>
        <p:spPr>
          <a:xfrm>
            <a:off x="4251960" y="1885061"/>
            <a:ext cx="3337560" cy="15087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885061"/>
            <a:ext cx="73152" cy="150876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36592" y="1885051"/>
            <a:ext cx="3017520" cy="584775"/>
          </a:xfrm>
          <a:prstGeom prst="rect">
            <a:avLst/>
          </a:prstGeom>
          <a:noFill/>
        </p:spPr>
        <p:txBody>
          <a:bodyPr wrap="square" lIns="45720" rIns="45720">
            <a:spAutoFit/>
          </a:bodyPr>
          <a:lstStyle/>
          <a:p>
            <a:pPr algn="l">
              <a:defRPr sz="1300" b="1">
                <a:solidFill>
                  <a:srgbClr val="0D2A56"/>
                </a:solidFill>
                <a:latin typeface="Aptos"/>
              </a:defRPr>
            </a:pPr>
            <a:r>
              <a:rPr sz="3200" dirty="0"/>
              <a:t>Card status</a:t>
            </a:r>
          </a:p>
        </p:txBody>
      </p:sp>
      <p:sp>
        <p:nvSpPr>
          <p:cNvPr id="14" name="TextBox 13"/>
          <p:cNvSpPr txBox="1"/>
          <p:nvPr/>
        </p:nvSpPr>
        <p:spPr>
          <a:xfrm>
            <a:off x="4453128" y="2387981"/>
            <a:ext cx="3017520" cy="830997"/>
          </a:xfrm>
          <a:prstGeom prst="rect">
            <a:avLst/>
          </a:prstGeom>
          <a:noFill/>
        </p:spPr>
        <p:txBody>
          <a:bodyPr wrap="square" lIns="45720" rIns="45720">
            <a:spAutoFit/>
          </a:bodyPr>
          <a:lstStyle/>
          <a:p>
            <a:pPr algn="ctr">
              <a:defRPr sz="1000" b="0">
                <a:solidFill>
                  <a:srgbClr val="1F2B39"/>
                </a:solidFill>
                <a:latin typeface="Aptos"/>
              </a:defRPr>
            </a:pPr>
            <a:r>
              <a:rPr sz="1600" dirty="0"/>
              <a:t>Monthly card entitlement and active-card information linked to each shop.</a:t>
            </a:r>
          </a:p>
        </p:txBody>
      </p:sp>
      <p:sp>
        <p:nvSpPr>
          <p:cNvPr id="15" name="Rounded Rectangle 14"/>
          <p:cNvSpPr/>
          <p:nvPr/>
        </p:nvSpPr>
        <p:spPr>
          <a:xfrm>
            <a:off x="7818120" y="1885061"/>
            <a:ext cx="3337560" cy="15087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1885061"/>
            <a:ext cx="73152" cy="150876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0768" y="1852670"/>
            <a:ext cx="3017520" cy="584775"/>
          </a:xfrm>
          <a:prstGeom prst="rect">
            <a:avLst/>
          </a:prstGeom>
          <a:noFill/>
        </p:spPr>
        <p:txBody>
          <a:bodyPr wrap="square" lIns="45720" rIns="45720">
            <a:spAutoFit/>
          </a:bodyPr>
          <a:lstStyle/>
          <a:p>
            <a:pPr algn="l">
              <a:defRPr sz="1300" b="1">
                <a:solidFill>
                  <a:srgbClr val="0D2A56"/>
                </a:solidFill>
                <a:latin typeface="Aptos"/>
              </a:defRPr>
            </a:pPr>
            <a:r>
              <a:rPr sz="3200" dirty="0"/>
              <a:t>Locations</a:t>
            </a:r>
          </a:p>
        </p:txBody>
      </p:sp>
      <p:sp>
        <p:nvSpPr>
          <p:cNvPr id="18" name="TextBox 17"/>
          <p:cNvSpPr txBox="1"/>
          <p:nvPr/>
        </p:nvSpPr>
        <p:spPr>
          <a:xfrm>
            <a:off x="8014716" y="2502753"/>
            <a:ext cx="3017520" cy="584775"/>
          </a:xfrm>
          <a:prstGeom prst="rect">
            <a:avLst/>
          </a:prstGeom>
          <a:noFill/>
        </p:spPr>
        <p:txBody>
          <a:bodyPr wrap="square" lIns="45720" rIns="45720">
            <a:spAutoFit/>
          </a:bodyPr>
          <a:lstStyle/>
          <a:p>
            <a:pPr algn="ctr">
              <a:defRPr sz="1000" b="0">
                <a:solidFill>
                  <a:srgbClr val="1F2B39"/>
                </a:solidFill>
                <a:latin typeface="Aptos"/>
              </a:defRPr>
            </a:pPr>
            <a:r>
              <a:rPr sz="1600" dirty="0"/>
              <a:t>Shop geospatial coordinates and district/office context.</a:t>
            </a:r>
          </a:p>
        </p:txBody>
      </p:sp>
      <p:sp>
        <p:nvSpPr>
          <p:cNvPr id="19" name="Rounded Rectangle 18"/>
          <p:cNvSpPr/>
          <p:nvPr/>
        </p:nvSpPr>
        <p:spPr>
          <a:xfrm>
            <a:off x="685800" y="3851021"/>
            <a:ext cx="3337560" cy="141732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851021"/>
            <a:ext cx="73152" cy="1417320"/>
          </a:xfrm>
          <a:prstGeom prst="rect">
            <a:avLst/>
          </a:prstGeom>
          <a:solidFill>
            <a:srgbClr val="0D2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68680" y="3872356"/>
            <a:ext cx="3264408" cy="584775"/>
          </a:xfrm>
          <a:prstGeom prst="rect">
            <a:avLst/>
          </a:prstGeom>
          <a:noFill/>
        </p:spPr>
        <p:txBody>
          <a:bodyPr wrap="square" lIns="45720" rIns="45720">
            <a:spAutoFit/>
          </a:bodyPr>
          <a:lstStyle/>
          <a:p>
            <a:pPr algn="l">
              <a:defRPr sz="1300" b="1">
                <a:solidFill>
                  <a:srgbClr val="0D2A56"/>
                </a:solidFill>
                <a:latin typeface="Aptos"/>
              </a:defRPr>
            </a:pPr>
            <a:r>
              <a:rPr sz="3200" dirty="0"/>
              <a:t>Integrated table</a:t>
            </a:r>
          </a:p>
        </p:txBody>
      </p:sp>
      <p:sp>
        <p:nvSpPr>
          <p:cNvPr id="22" name="TextBox 21"/>
          <p:cNvSpPr txBox="1"/>
          <p:nvPr/>
        </p:nvSpPr>
        <p:spPr>
          <a:xfrm>
            <a:off x="900332" y="4429021"/>
            <a:ext cx="3017520" cy="584775"/>
          </a:xfrm>
          <a:prstGeom prst="rect">
            <a:avLst/>
          </a:prstGeom>
          <a:noFill/>
        </p:spPr>
        <p:txBody>
          <a:bodyPr wrap="square" lIns="45720" rIns="45720">
            <a:spAutoFit/>
          </a:bodyPr>
          <a:lstStyle/>
          <a:p>
            <a:pPr algn="ctr">
              <a:defRPr sz="1000" b="0">
                <a:solidFill>
                  <a:srgbClr val="1F2B39"/>
                </a:solidFill>
                <a:latin typeface="Aptos"/>
              </a:defRPr>
            </a:pPr>
            <a:r>
              <a:rPr sz="1600" dirty="0"/>
              <a:t>499,648 rows × 53 fields, with one record per shop-month.</a:t>
            </a:r>
          </a:p>
        </p:txBody>
      </p:sp>
      <p:sp>
        <p:nvSpPr>
          <p:cNvPr id="23" name="Rounded Rectangle 22"/>
          <p:cNvSpPr/>
          <p:nvPr/>
        </p:nvSpPr>
        <p:spPr>
          <a:xfrm>
            <a:off x="4251960" y="3851021"/>
            <a:ext cx="3337560" cy="141732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851021"/>
            <a:ext cx="73152" cy="14173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47620" y="3872356"/>
            <a:ext cx="3749040" cy="553998"/>
          </a:xfrm>
          <a:prstGeom prst="rect">
            <a:avLst/>
          </a:prstGeom>
          <a:noFill/>
        </p:spPr>
        <p:txBody>
          <a:bodyPr wrap="square" lIns="45720" rIns="45720">
            <a:spAutoFit/>
          </a:bodyPr>
          <a:lstStyle/>
          <a:p>
            <a:pPr algn="l">
              <a:defRPr sz="1300" b="1">
                <a:solidFill>
                  <a:srgbClr val="0D2A56"/>
                </a:solidFill>
                <a:latin typeface="Aptos"/>
              </a:defRPr>
            </a:pPr>
            <a:r>
              <a:rPr sz="3000" dirty="0"/>
              <a:t>Shop-level model</a:t>
            </a:r>
          </a:p>
        </p:txBody>
      </p:sp>
      <p:sp>
        <p:nvSpPr>
          <p:cNvPr id="26" name="TextBox 25"/>
          <p:cNvSpPr txBox="1"/>
          <p:nvPr/>
        </p:nvSpPr>
        <p:spPr>
          <a:xfrm>
            <a:off x="4292756" y="4363269"/>
            <a:ext cx="3319272" cy="830997"/>
          </a:xfrm>
          <a:prstGeom prst="rect">
            <a:avLst/>
          </a:prstGeom>
          <a:noFill/>
        </p:spPr>
        <p:txBody>
          <a:bodyPr wrap="square" lIns="45720" rIns="45720">
            <a:spAutoFit/>
          </a:bodyPr>
          <a:lstStyle/>
          <a:p>
            <a:pPr algn="ctr">
              <a:defRPr sz="1000" b="0">
                <a:solidFill>
                  <a:srgbClr val="1F2B39"/>
                </a:solidFill>
                <a:latin typeface="Aptos"/>
              </a:defRPr>
            </a:pPr>
            <a:r>
              <a:rPr sz="1600" dirty="0"/>
              <a:t>17,491 unique shops × 33 districts; aggregated features reduce the level of detail.</a:t>
            </a:r>
          </a:p>
        </p:txBody>
      </p:sp>
      <p:sp>
        <p:nvSpPr>
          <p:cNvPr id="27" name="Rounded Rectangle 26"/>
          <p:cNvSpPr/>
          <p:nvPr/>
        </p:nvSpPr>
        <p:spPr>
          <a:xfrm>
            <a:off x="7818120" y="3851021"/>
            <a:ext cx="3337560" cy="141732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18120" y="3851021"/>
            <a:ext cx="73152" cy="1417320"/>
          </a:xfrm>
          <a:prstGeom prst="rect">
            <a:avLst/>
          </a:prstGeom>
          <a:solidFill>
            <a:srgbClr val="D3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30768" y="3788627"/>
            <a:ext cx="3017520" cy="584775"/>
          </a:xfrm>
          <a:prstGeom prst="rect">
            <a:avLst/>
          </a:prstGeom>
          <a:noFill/>
        </p:spPr>
        <p:txBody>
          <a:bodyPr wrap="square" lIns="45720" rIns="45720">
            <a:spAutoFit/>
          </a:bodyPr>
          <a:lstStyle/>
          <a:p>
            <a:pPr algn="l">
              <a:defRPr sz="1300" b="1">
                <a:solidFill>
                  <a:srgbClr val="0D2A56"/>
                </a:solidFill>
                <a:latin typeface="Aptos"/>
              </a:defRPr>
            </a:pPr>
            <a:r>
              <a:rPr sz="3200" dirty="0"/>
              <a:t>Coverage</a:t>
            </a:r>
          </a:p>
        </p:txBody>
      </p:sp>
      <p:sp>
        <p:nvSpPr>
          <p:cNvPr id="30" name="TextBox 29"/>
          <p:cNvSpPr txBox="1"/>
          <p:nvPr/>
        </p:nvSpPr>
        <p:spPr>
          <a:xfrm>
            <a:off x="7946136" y="4327455"/>
            <a:ext cx="3209544" cy="954107"/>
          </a:xfrm>
          <a:prstGeom prst="rect">
            <a:avLst/>
          </a:prstGeom>
          <a:noFill/>
        </p:spPr>
        <p:txBody>
          <a:bodyPr wrap="square" lIns="45720" rIns="45720">
            <a:spAutoFit/>
          </a:bodyPr>
          <a:lstStyle/>
          <a:p>
            <a:pPr algn="ctr">
              <a:defRPr sz="1000" b="0">
                <a:solidFill>
                  <a:srgbClr val="1F2B39"/>
                </a:solidFill>
                <a:latin typeface="Aptos"/>
              </a:defRPr>
            </a:pPr>
            <a:r>
              <a:rPr sz="1400" dirty="0"/>
              <a:t>Date range recorded as 2023-01-01 to 2025-05-01; documentation also mentions 3.5 and 7.5 years, so this should be verified.</a:t>
            </a:r>
          </a:p>
        </p:txBody>
      </p:sp>
      <p:sp>
        <p:nvSpPr>
          <p:cNvPr id="31" name="TextBox 30"/>
          <p:cNvSpPr txBox="1"/>
          <p:nvPr/>
        </p:nvSpPr>
        <p:spPr>
          <a:xfrm>
            <a:off x="758952" y="5554963"/>
            <a:ext cx="10469880" cy="323165"/>
          </a:xfrm>
          <a:prstGeom prst="rect">
            <a:avLst/>
          </a:prstGeom>
          <a:noFill/>
        </p:spPr>
        <p:txBody>
          <a:bodyPr wrap="square" lIns="45720" rIns="45720">
            <a:spAutoFit/>
          </a:bodyPr>
          <a:lstStyle/>
          <a:p>
            <a:pPr algn="l">
              <a:defRPr sz="1200" b="1">
                <a:solidFill>
                  <a:srgbClr val="0D2A56"/>
                </a:solidFill>
                <a:latin typeface="Aptos"/>
              </a:defRPr>
            </a:pPr>
            <a:r>
              <a:rPr sz="1500" dirty="0"/>
              <a:t>Key relationship: transactions + card status + location metadata are joined using district, shop, year, and month.</a:t>
            </a:r>
          </a:p>
        </p:txBody>
      </p:sp>
      <p:sp>
        <p:nvSpPr>
          <p:cNvPr id="32" name="TextBox 3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DATA ENGINEERING DISCIPLINE</a:t>
            </a:r>
          </a:p>
        </p:txBody>
      </p:sp>
      <p:sp>
        <p:nvSpPr>
          <p:cNvPr id="3" name="TextBox 2"/>
          <p:cNvSpPr txBox="1"/>
          <p:nvPr/>
        </p:nvSpPr>
        <p:spPr>
          <a:xfrm>
            <a:off x="566928" y="682880"/>
            <a:ext cx="6269665" cy="507831"/>
          </a:xfrm>
          <a:prstGeom prst="rect">
            <a:avLst/>
          </a:prstGeom>
          <a:noFill/>
        </p:spPr>
        <p:txBody>
          <a:bodyPr wrap="none">
            <a:spAutoFit/>
          </a:bodyPr>
          <a:lstStyle/>
          <a:p>
            <a:pPr>
              <a:defRPr sz="2700" b="1">
                <a:solidFill>
                  <a:srgbClr val="0D2A56"/>
                </a:solidFill>
                <a:latin typeface="Aptos"/>
              </a:defRPr>
            </a:pPr>
            <a:r>
              <a:rPr lang="en-US" dirty="0" smtClean="0"/>
              <a:t>How The Large Dataset Was Handled</a:t>
            </a:r>
            <a:endParaRPr lang="en-US" dirty="0"/>
          </a:p>
        </p:txBody>
      </p:sp>
      <p:sp>
        <p:nvSpPr>
          <p:cNvPr id="4" name="TextBox 3"/>
          <p:cNvSpPr txBox="1"/>
          <p:nvPr/>
        </p:nvSpPr>
        <p:spPr>
          <a:xfrm>
            <a:off x="566928" y="1141838"/>
            <a:ext cx="10789920" cy="320040"/>
          </a:xfrm>
          <a:prstGeom prst="rect">
            <a:avLst/>
          </a:prstGeom>
          <a:noFill/>
        </p:spPr>
        <p:txBody>
          <a:bodyPr wrap="none">
            <a:spAutoFit/>
          </a:bodyPr>
          <a:lstStyle/>
          <a:p>
            <a:pPr>
              <a:defRPr sz="1200">
                <a:solidFill>
                  <a:srgbClr val="5B6977"/>
                </a:solidFill>
                <a:latin typeface="Aptos"/>
              </a:defRPr>
            </a:pPr>
            <a:r>
              <a:t>From raw files to a trusted, analysis-ready dataset</a:t>
            </a:r>
          </a:p>
        </p:txBody>
      </p:sp>
      <p:sp>
        <p:nvSpPr>
          <p:cNvPr id="5" name="Rectangle 4"/>
          <p:cNvSpPr/>
          <p:nvPr/>
        </p:nvSpPr>
        <p:spPr>
          <a:xfrm>
            <a:off x="566928" y="1516742"/>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05</a:t>
            </a:r>
          </a:p>
        </p:txBody>
      </p:sp>
      <p:sp>
        <p:nvSpPr>
          <p:cNvPr id="7" name="TextBox 6"/>
          <p:cNvSpPr txBox="1"/>
          <p:nvPr/>
        </p:nvSpPr>
        <p:spPr>
          <a:xfrm>
            <a:off x="685800" y="1855070"/>
            <a:ext cx="5029200" cy="4305794"/>
          </a:xfrm>
          <a:prstGeom prst="rect">
            <a:avLst/>
          </a:prstGeom>
          <a:noFill/>
        </p:spPr>
        <p:txBody>
          <a:bodyPr wrap="square" lIns="73152" tIns="36576" rIns="73152" bIns="36576">
            <a:spAutoFit/>
          </a:bodyPr>
          <a:lstStyle/>
          <a:p>
            <a:pPr>
              <a:spcAft>
                <a:spcPts val="700"/>
              </a:spcAft>
              <a:defRPr sz="1300">
                <a:solidFill>
                  <a:srgbClr val="1F2B39"/>
                </a:solidFill>
                <a:latin typeface="Aptos"/>
              </a:defRPr>
            </a:pPr>
            <a:r>
              <a:rPr lang="en-SG" sz="1600" b="1" dirty="0" smtClean="0"/>
              <a:t>•  Safe Ingestion</a:t>
            </a:r>
            <a:r>
              <a:rPr sz="1600" b="1" dirty="0" smtClean="0"/>
              <a:t>: </a:t>
            </a:r>
            <a:r>
              <a:rPr sz="1600" dirty="0"/>
              <a:t>handled CSV encoding variants and loaded data </a:t>
            </a:r>
            <a:r>
              <a:rPr sz="1600" dirty="0" smtClean="0"/>
              <a:t>with </a:t>
            </a:r>
            <a:r>
              <a:rPr sz="1600" dirty="0"/>
              <a:t>low-memory parsing.</a:t>
            </a:r>
          </a:p>
          <a:p>
            <a:pPr>
              <a:spcAft>
                <a:spcPts val="700"/>
              </a:spcAft>
              <a:defRPr sz="1300">
                <a:solidFill>
                  <a:srgbClr val="1F2B39"/>
                </a:solidFill>
                <a:latin typeface="Aptos"/>
              </a:defRPr>
            </a:pPr>
            <a:r>
              <a:rPr sz="1600" b="1" dirty="0">
                <a:solidFill>
                  <a:srgbClr val="1F2B39"/>
                </a:solidFill>
                <a:latin typeface="Aptos"/>
              </a:rPr>
              <a:t>•  Data inspection: </a:t>
            </a:r>
            <a:r>
              <a:rPr sz="1600" dirty="0"/>
              <a:t>checked column consistency, row counts, file sizes, and field types.</a:t>
            </a:r>
          </a:p>
          <a:p>
            <a:pPr>
              <a:spcAft>
                <a:spcPts val="700"/>
              </a:spcAft>
              <a:defRPr sz="1300">
                <a:solidFill>
                  <a:srgbClr val="1F2B39"/>
                </a:solidFill>
                <a:latin typeface="Aptos"/>
              </a:defRPr>
            </a:pPr>
            <a:r>
              <a:rPr sz="1600" b="1" dirty="0">
                <a:solidFill>
                  <a:srgbClr val="1F2B39"/>
                </a:solidFill>
                <a:latin typeface="Aptos"/>
              </a:rPr>
              <a:t>•  Cleaning: </a:t>
            </a:r>
            <a:r>
              <a:rPr sz="1600" dirty="0"/>
              <a:t>removed duplicate shop-month records and standardized identifiers, dates, and text.</a:t>
            </a:r>
          </a:p>
          <a:p>
            <a:pPr>
              <a:spcAft>
                <a:spcPts val="700"/>
              </a:spcAft>
              <a:defRPr sz="1300">
                <a:solidFill>
                  <a:srgbClr val="1F2B39"/>
                </a:solidFill>
                <a:latin typeface="Aptos"/>
              </a:defRPr>
            </a:pPr>
            <a:r>
              <a:rPr sz="1600" b="1" dirty="0">
                <a:solidFill>
                  <a:srgbClr val="1F2B39"/>
                </a:solidFill>
                <a:latin typeface="Aptos"/>
              </a:rPr>
              <a:t>•  Missing values: </a:t>
            </a:r>
            <a:r>
              <a:rPr sz="1600" dirty="0"/>
              <a:t>reported </a:t>
            </a:r>
            <a:r>
              <a:rPr sz="1600" dirty="0" err="1"/>
              <a:t>missingness</a:t>
            </a:r>
            <a:r>
              <a:rPr sz="1600" dirty="0"/>
              <a:t>, filled numeric card values with zero, and standardized location text.</a:t>
            </a:r>
          </a:p>
          <a:p>
            <a:pPr>
              <a:spcAft>
                <a:spcPts val="700"/>
              </a:spcAft>
              <a:defRPr sz="1300">
                <a:solidFill>
                  <a:srgbClr val="1F2B39"/>
                </a:solidFill>
                <a:latin typeface="Aptos"/>
              </a:defRPr>
            </a:pPr>
            <a:r>
              <a:rPr sz="1600" b="1" dirty="0">
                <a:solidFill>
                  <a:srgbClr val="1F2B39"/>
                </a:solidFill>
                <a:latin typeface="Aptos"/>
              </a:rPr>
              <a:t>•  Validation: </a:t>
            </a:r>
            <a:r>
              <a:rPr sz="1600" dirty="0"/>
              <a:t>checked joins, geo coordinates, missing transactions, and invalid numeric values.</a:t>
            </a:r>
          </a:p>
          <a:p>
            <a:pPr>
              <a:spcAft>
                <a:spcPts val="700"/>
              </a:spcAft>
              <a:defRPr sz="1300">
                <a:solidFill>
                  <a:srgbClr val="1F2B39"/>
                </a:solidFill>
                <a:latin typeface="Aptos"/>
              </a:defRPr>
            </a:pPr>
            <a:r>
              <a:rPr sz="1600" b="1" dirty="0">
                <a:solidFill>
                  <a:srgbClr val="1F2B39"/>
                </a:solidFill>
                <a:latin typeface="Aptos"/>
              </a:rPr>
              <a:t>•  Aggregation: </a:t>
            </a:r>
            <a:r>
              <a:rPr sz="1600" dirty="0"/>
              <a:t>converted shop-month data into shop-level behavioral features.</a:t>
            </a:r>
          </a:p>
          <a:p>
            <a:pPr>
              <a:spcAft>
                <a:spcPts val="700"/>
              </a:spcAft>
              <a:defRPr sz="1300">
                <a:solidFill>
                  <a:srgbClr val="1F2B39"/>
                </a:solidFill>
                <a:latin typeface="Aptos"/>
              </a:defRPr>
            </a:pPr>
            <a:r>
              <a:rPr sz="1600" b="1" dirty="0">
                <a:solidFill>
                  <a:srgbClr val="1F2B39"/>
                </a:solidFill>
                <a:latin typeface="Aptos"/>
              </a:rPr>
              <a:t>•  Optimization: </a:t>
            </a:r>
            <a:r>
              <a:rPr sz="1600" dirty="0"/>
              <a:t>stored intermediate datasets as Parquet and sampled data for visual analysis.</a:t>
            </a:r>
          </a:p>
        </p:txBody>
      </p:sp>
      <p:sp>
        <p:nvSpPr>
          <p:cNvPr id="8" name="TextBox 7"/>
          <p:cNvSpPr txBox="1"/>
          <p:nvPr/>
        </p:nvSpPr>
        <p:spPr>
          <a:xfrm>
            <a:off x="6080760" y="1868686"/>
            <a:ext cx="5120640" cy="461665"/>
          </a:xfrm>
          <a:prstGeom prst="rect">
            <a:avLst/>
          </a:prstGeom>
          <a:noFill/>
        </p:spPr>
        <p:txBody>
          <a:bodyPr wrap="square" lIns="45720" rIns="45720">
            <a:spAutoFit/>
          </a:bodyPr>
          <a:lstStyle/>
          <a:p>
            <a:pPr algn="ctr">
              <a:defRPr sz="1600" b="1">
                <a:solidFill>
                  <a:srgbClr val="0D2A56"/>
                </a:solidFill>
                <a:latin typeface="Aptos"/>
              </a:defRPr>
            </a:pPr>
            <a:r>
              <a:rPr sz="2400" dirty="0"/>
              <a:t>Data-quality checkpoints</a:t>
            </a:r>
          </a:p>
        </p:txBody>
      </p:sp>
      <p:sp>
        <p:nvSpPr>
          <p:cNvPr id="9" name="Rounded Rectangle 8"/>
          <p:cNvSpPr/>
          <p:nvPr/>
        </p:nvSpPr>
        <p:spPr>
          <a:xfrm>
            <a:off x="6080760" y="2495150"/>
            <a:ext cx="5120640" cy="10515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80760" y="2495150"/>
            <a:ext cx="73152" cy="10515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81928" y="2632310"/>
            <a:ext cx="480060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Duplicate Records</a:t>
            </a:r>
            <a:endParaRPr lang="en-SG" sz="2000" dirty="0"/>
          </a:p>
        </p:txBody>
      </p:sp>
      <p:sp>
        <p:nvSpPr>
          <p:cNvPr id="12" name="TextBox 11"/>
          <p:cNvSpPr txBox="1"/>
          <p:nvPr/>
        </p:nvSpPr>
        <p:spPr>
          <a:xfrm>
            <a:off x="6129400" y="3036982"/>
            <a:ext cx="5001768" cy="338554"/>
          </a:xfrm>
          <a:prstGeom prst="rect">
            <a:avLst/>
          </a:prstGeom>
          <a:noFill/>
        </p:spPr>
        <p:txBody>
          <a:bodyPr wrap="square" lIns="45720" rIns="45720">
            <a:spAutoFit/>
          </a:bodyPr>
          <a:lstStyle/>
          <a:p>
            <a:pPr algn="ctr">
              <a:defRPr sz="1000" b="0">
                <a:solidFill>
                  <a:srgbClr val="1F2B39"/>
                </a:solidFill>
                <a:latin typeface="Aptos"/>
              </a:defRPr>
            </a:pPr>
            <a:r>
              <a:rPr sz="1600" dirty="0"/>
              <a:t>0 duplicate shop-month transaction records reported.</a:t>
            </a:r>
          </a:p>
        </p:txBody>
      </p:sp>
      <p:sp>
        <p:nvSpPr>
          <p:cNvPr id="13" name="Rounded Rectangle 12"/>
          <p:cNvSpPr/>
          <p:nvPr/>
        </p:nvSpPr>
        <p:spPr>
          <a:xfrm>
            <a:off x="6080760" y="3775310"/>
            <a:ext cx="5120640" cy="10515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3775310"/>
            <a:ext cx="73152" cy="105156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8" y="3912470"/>
            <a:ext cx="480060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Missing Location Values</a:t>
            </a:r>
            <a:endParaRPr lang="en-SG" sz="2000" dirty="0"/>
          </a:p>
        </p:txBody>
      </p:sp>
      <p:sp>
        <p:nvSpPr>
          <p:cNvPr id="16" name="TextBox 15"/>
          <p:cNvSpPr txBox="1"/>
          <p:nvPr/>
        </p:nvSpPr>
        <p:spPr>
          <a:xfrm>
            <a:off x="6281928" y="4278230"/>
            <a:ext cx="4800600" cy="584775"/>
          </a:xfrm>
          <a:prstGeom prst="rect">
            <a:avLst/>
          </a:prstGeom>
          <a:noFill/>
        </p:spPr>
        <p:txBody>
          <a:bodyPr wrap="square" lIns="45720" rIns="45720">
            <a:spAutoFit/>
          </a:bodyPr>
          <a:lstStyle/>
          <a:p>
            <a:pPr algn="ctr">
              <a:defRPr sz="1000" b="0">
                <a:solidFill>
                  <a:srgbClr val="1F2B39"/>
                </a:solidFill>
                <a:latin typeface="Aptos"/>
              </a:defRPr>
            </a:pPr>
            <a:r>
              <a:rPr sz="1600" dirty="0"/>
              <a:t>4,948 rows missing latitude and longitude in the integrated output.</a:t>
            </a:r>
          </a:p>
        </p:txBody>
      </p:sp>
      <p:sp>
        <p:nvSpPr>
          <p:cNvPr id="17" name="Rounded Rectangle 16"/>
          <p:cNvSpPr/>
          <p:nvPr/>
        </p:nvSpPr>
        <p:spPr>
          <a:xfrm>
            <a:off x="6080760" y="5055470"/>
            <a:ext cx="5120640" cy="10515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80760" y="5055470"/>
            <a:ext cx="73152" cy="10515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81928" y="5192630"/>
            <a:ext cx="480060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Model-ready Matrix</a:t>
            </a:r>
            <a:endParaRPr lang="en-SG" sz="2000" dirty="0"/>
          </a:p>
        </p:txBody>
      </p:sp>
      <p:sp>
        <p:nvSpPr>
          <p:cNvPr id="20" name="TextBox 19"/>
          <p:cNvSpPr txBox="1"/>
          <p:nvPr/>
        </p:nvSpPr>
        <p:spPr>
          <a:xfrm>
            <a:off x="6281928" y="5558390"/>
            <a:ext cx="4800600" cy="584775"/>
          </a:xfrm>
          <a:prstGeom prst="rect">
            <a:avLst/>
          </a:prstGeom>
          <a:noFill/>
        </p:spPr>
        <p:txBody>
          <a:bodyPr wrap="square" lIns="45720" rIns="45720">
            <a:spAutoFit/>
          </a:bodyPr>
          <a:lstStyle/>
          <a:p>
            <a:pPr algn="ctr">
              <a:defRPr sz="1000" b="0">
                <a:solidFill>
                  <a:srgbClr val="1F2B39"/>
                </a:solidFill>
                <a:latin typeface="Aptos"/>
              </a:defRPr>
            </a:pPr>
            <a:r>
              <a:rPr sz="1600" dirty="0"/>
              <a:t>17,491 shops × 15 features after aggregation and imputation.</a:t>
            </a:r>
          </a:p>
        </p:txBody>
      </p:sp>
      <p:sp>
        <p:nvSpPr>
          <p:cNvPr id="21" name="TextBox 20"/>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rPr dirty="0"/>
              <a:t>BUILT WORKFLOW</a:t>
            </a:r>
          </a:p>
        </p:txBody>
      </p:sp>
      <p:sp>
        <p:nvSpPr>
          <p:cNvPr id="3" name="TextBox 2"/>
          <p:cNvSpPr txBox="1"/>
          <p:nvPr/>
        </p:nvSpPr>
        <p:spPr>
          <a:xfrm>
            <a:off x="521208" y="575199"/>
            <a:ext cx="4166525" cy="507831"/>
          </a:xfrm>
          <a:prstGeom prst="rect">
            <a:avLst/>
          </a:prstGeom>
          <a:noFill/>
        </p:spPr>
        <p:txBody>
          <a:bodyPr wrap="none">
            <a:spAutoFit/>
          </a:bodyPr>
          <a:lstStyle/>
          <a:p>
            <a:pPr>
              <a:defRPr sz="2700" b="1">
                <a:solidFill>
                  <a:srgbClr val="0D2A56"/>
                </a:solidFill>
                <a:latin typeface="Aptos"/>
              </a:defRPr>
            </a:pPr>
            <a:r>
              <a:rPr lang="en-SG" dirty="0" smtClean="0"/>
              <a:t>End-to-end Project Flow</a:t>
            </a:r>
            <a:endParaRPr lang="en-SG" dirty="0"/>
          </a:p>
        </p:txBody>
      </p:sp>
      <p:sp>
        <p:nvSpPr>
          <p:cNvPr id="4" name="TextBox 3"/>
          <p:cNvSpPr txBox="1"/>
          <p:nvPr/>
        </p:nvSpPr>
        <p:spPr>
          <a:xfrm>
            <a:off x="566928" y="1005651"/>
            <a:ext cx="10789920" cy="320040"/>
          </a:xfrm>
          <a:prstGeom prst="rect">
            <a:avLst/>
          </a:prstGeom>
          <a:noFill/>
        </p:spPr>
        <p:txBody>
          <a:bodyPr wrap="none">
            <a:spAutoFit/>
          </a:bodyPr>
          <a:lstStyle/>
          <a:p>
            <a:pPr>
              <a:defRPr sz="1200">
                <a:solidFill>
                  <a:srgbClr val="5B6977"/>
                </a:solidFill>
                <a:latin typeface="Aptos"/>
              </a:defRPr>
            </a:pPr>
            <a:r>
              <a:rPr dirty="0"/>
              <a:t>A transparent path from source data to decision support</a:t>
            </a:r>
          </a:p>
        </p:txBody>
      </p:sp>
      <p:sp>
        <p:nvSpPr>
          <p:cNvPr id="5" name="Rectangle 4"/>
          <p:cNvSpPr/>
          <p:nvPr/>
        </p:nvSpPr>
        <p:spPr>
          <a:xfrm>
            <a:off x="566928" y="1293003"/>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06</a:t>
            </a:r>
          </a:p>
        </p:txBody>
      </p:sp>
      <p:sp>
        <p:nvSpPr>
          <p:cNvPr id="7" name="Rounded Rectangle 6"/>
          <p:cNvSpPr/>
          <p:nvPr/>
        </p:nvSpPr>
        <p:spPr>
          <a:xfrm>
            <a:off x="685800"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1</a:t>
            </a:r>
          </a:p>
        </p:txBody>
      </p:sp>
      <p:sp>
        <p:nvSpPr>
          <p:cNvPr id="9" name="TextBox 8"/>
          <p:cNvSpPr txBox="1"/>
          <p:nvPr/>
        </p:nvSpPr>
        <p:spPr>
          <a:xfrm>
            <a:off x="758952"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Raw data</a:t>
            </a:r>
          </a:p>
        </p:txBody>
      </p:sp>
      <p:sp>
        <p:nvSpPr>
          <p:cNvPr id="10" name="TextBox 9"/>
          <p:cNvSpPr txBox="1"/>
          <p:nvPr/>
        </p:nvSpPr>
        <p:spPr>
          <a:xfrm>
            <a:off x="758952" y="2621808"/>
            <a:ext cx="1179576" cy="430887"/>
          </a:xfrm>
          <a:prstGeom prst="rect">
            <a:avLst/>
          </a:prstGeom>
          <a:noFill/>
        </p:spPr>
        <p:txBody>
          <a:bodyPr wrap="square" lIns="45720" rIns="45720">
            <a:spAutoFit/>
          </a:bodyPr>
          <a:lstStyle/>
          <a:p>
            <a:pPr algn="ctr">
              <a:defRPr sz="800" b="0">
                <a:solidFill>
                  <a:srgbClr val="5B6977"/>
                </a:solidFill>
                <a:latin typeface="Aptos"/>
              </a:defRPr>
            </a:pPr>
            <a:r>
              <a:rPr sz="1100" dirty="0">
                <a:solidFill>
                  <a:schemeClr val="tx1">
                    <a:lumMod val="95000"/>
                    <a:lumOff val="5000"/>
                  </a:schemeClr>
                </a:solidFill>
              </a:rPr>
              <a:t>Transactions, cards, locations</a:t>
            </a:r>
          </a:p>
        </p:txBody>
      </p:sp>
      <p:sp>
        <p:nvSpPr>
          <p:cNvPr id="11" name="Right Arrow 10"/>
          <p:cNvSpPr/>
          <p:nvPr/>
        </p:nvSpPr>
        <p:spPr>
          <a:xfrm>
            <a:off x="2103120" y="2095344"/>
            <a:ext cx="320040" cy="256032"/>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231136"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04288"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2</a:t>
            </a:r>
          </a:p>
        </p:txBody>
      </p:sp>
      <p:sp>
        <p:nvSpPr>
          <p:cNvPr id="14" name="TextBox 13"/>
          <p:cNvSpPr txBox="1"/>
          <p:nvPr/>
        </p:nvSpPr>
        <p:spPr>
          <a:xfrm>
            <a:off x="2304288"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Understand</a:t>
            </a:r>
          </a:p>
        </p:txBody>
      </p:sp>
      <p:sp>
        <p:nvSpPr>
          <p:cNvPr id="15" name="TextBox 14"/>
          <p:cNvSpPr txBox="1"/>
          <p:nvPr/>
        </p:nvSpPr>
        <p:spPr>
          <a:xfrm>
            <a:off x="2304288" y="2621808"/>
            <a:ext cx="1179576" cy="430887"/>
          </a:xfrm>
          <a:prstGeom prst="rect">
            <a:avLst/>
          </a:prstGeom>
          <a:noFill/>
        </p:spPr>
        <p:txBody>
          <a:bodyPr wrap="square" lIns="45720" rIns="45720">
            <a:spAutoFit/>
          </a:bodyPr>
          <a:lstStyle/>
          <a:p>
            <a:pPr algn="ctr">
              <a:defRPr sz="800" b="0">
                <a:solidFill>
                  <a:srgbClr val="5B6977"/>
                </a:solidFill>
                <a:latin typeface="Aptos"/>
              </a:defRPr>
            </a:pPr>
            <a:r>
              <a:rPr sz="1100">
                <a:solidFill>
                  <a:schemeClr val="tx1">
                    <a:lumMod val="95000"/>
                    <a:lumOff val="5000"/>
                  </a:schemeClr>
                </a:solidFill>
              </a:rPr>
              <a:t>Inspect schemas, coverage, quality</a:t>
            </a:r>
          </a:p>
        </p:txBody>
      </p:sp>
      <p:sp>
        <p:nvSpPr>
          <p:cNvPr id="16" name="Right Arrow 15"/>
          <p:cNvSpPr/>
          <p:nvPr/>
        </p:nvSpPr>
        <p:spPr>
          <a:xfrm>
            <a:off x="3648456" y="2095344"/>
            <a:ext cx="320040" cy="256032"/>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776472"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9624"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3</a:t>
            </a:r>
          </a:p>
        </p:txBody>
      </p:sp>
      <p:sp>
        <p:nvSpPr>
          <p:cNvPr id="19" name="TextBox 18"/>
          <p:cNvSpPr txBox="1"/>
          <p:nvPr/>
        </p:nvSpPr>
        <p:spPr>
          <a:xfrm>
            <a:off x="3849624"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Clean</a:t>
            </a:r>
          </a:p>
        </p:txBody>
      </p:sp>
      <p:sp>
        <p:nvSpPr>
          <p:cNvPr id="20" name="TextBox 19"/>
          <p:cNvSpPr txBox="1"/>
          <p:nvPr/>
        </p:nvSpPr>
        <p:spPr>
          <a:xfrm>
            <a:off x="3849624" y="2621808"/>
            <a:ext cx="1179576" cy="600164"/>
          </a:xfrm>
          <a:prstGeom prst="rect">
            <a:avLst/>
          </a:prstGeom>
          <a:noFill/>
        </p:spPr>
        <p:txBody>
          <a:bodyPr wrap="square" lIns="45720" rIns="45720">
            <a:spAutoFit/>
          </a:bodyPr>
          <a:lstStyle/>
          <a:p>
            <a:pPr algn="ctr">
              <a:defRPr sz="800" b="0">
                <a:solidFill>
                  <a:srgbClr val="5B6977"/>
                </a:solidFill>
                <a:latin typeface="Aptos"/>
              </a:defRPr>
            </a:pPr>
            <a:r>
              <a:rPr sz="1100">
                <a:solidFill>
                  <a:schemeClr val="tx1">
                    <a:lumMod val="95000"/>
                    <a:lumOff val="5000"/>
                  </a:schemeClr>
                </a:solidFill>
              </a:rPr>
              <a:t>Standardize, deduplicate, fill, validate</a:t>
            </a:r>
          </a:p>
        </p:txBody>
      </p:sp>
      <p:sp>
        <p:nvSpPr>
          <p:cNvPr id="21" name="Right Arrow 20"/>
          <p:cNvSpPr/>
          <p:nvPr/>
        </p:nvSpPr>
        <p:spPr>
          <a:xfrm>
            <a:off x="5193792" y="2095344"/>
            <a:ext cx="320040" cy="256032"/>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321808"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94960"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4</a:t>
            </a:r>
          </a:p>
        </p:txBody>
      </p:sp>
      <p:sp>
        <p:nvSpPr>
          <p:cNvPr id="24" name="TextBox 23"/>
          <p:cNvSpPr txBox="1"/>
          <p:nvPr/>
        </p:nvSpPr>
        <p:spPr>
          <a:xfrm>
            <a:off x="5394960"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Transform</a:t>
            </a:r>
          </a:p>
        </p:txBody>
      </p:sp>
      <p:sp>
        <p:nvSpPr>
          <p:cNvPr id="25" name="TextBox 24"/>
          <p:cNvSpPr txBox="1"/>
          <p:nvPr/>
        </p:nvSpPr>
        <p:spPr>
          <a:xfrm>
            <a:off x="5394960" y="2621808"/>
            <a:ext cx="1179576" cy="600164"/>
          </a:xfrm>
          <a:prstGeom prst="rect">
            <a:avLst/>
          </a:prstGeom>
          <a:noFill/>
        </p:spPr>
        <p:txBody>
          <a:bodyPr wrap="square" lIns="45720" rIns="45720">
            <a:spAutoFit/>
          </a:bodyPr>
          <a:lstStyle/>
          <a:p>
            <a:pPr algn="ctr">
              <a:defRPr sz="800" b="0">
                <a:solidFill>
                  <a:srgbClr val="5B6977"/>
                </a:solidFill>
                <a:latin typeface="Aptos"/>
              </a:defRPr>
            </a:pPr>
            <a:r>
              <a:rPr sz="1100">
                <a:solidFill>
                  <a:schemeClr val="tx1">
                    <a:lumMod val="95000"/>
                    <a:lumOff val="5000"/>
                  </a:schemeClr>
                </a:solidFill>
              </a:rPr>
              <a:t>Merge and build shop-month features</a:t>
            </a:r>
          </a:p>
        </p:txBody>
      </p:sp>
      <p:sp>
        <p:nvSpPr>
          <p:cNvPr id="26" name="Right Arrow 25"/>
          <p:cNvSpPr/>
          <p:nvPr/>
        </p:nvSpPr>
        <p:spPr>
          <a:xfrm>
            <a:off x="6739128" y="2095344"/>
            <a:ext cx="320040" cy="256032"/>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867144"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0296"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5</a:t>
            </a:r>
          </a:p>
        </p:txBody>
      </p:sp>
      <p:sp>
        <p:nvSpPr>
          <p:cNvPr id="29" name="TextBox 28"/>
          <p:cNvSpPr txBox="1"/>
          <p:nvPr/>
        </p:nvSpPr>
        <p:spPr>
          <a:xfrm>
            <a:off x="6940296"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Analyze</a:t>
            </a:r>
          </a:p>
        </p:txBody>
      </p:sp>
      <p:sp>
        <p:nvSpPr>
          <p:cNvPr id="30" name="TextBox 29"/>
          <p:cNvSpPr txBox="1"/>
          <p:nvPr/>
        </p:nvSpPr>
        <p:spPr>
          <a:xfrm>
            <a:off x="6940296" y="2621808"/>
            <a:ext cx="1179576" cy="600164"/>
          </a:xfrm>
          <a:prstGeom prst="rect">
            <a:avLst/>
          </a:prstGeom>
          <a:noFill/>
        </p:spPr>
        <p:txBody>
          <a:bodyPr wrap="square" lIns="45720" rIns="45720">
            <a:spAutoFit/>
          </a:bodyPr>
          <a:lstStyle/>
          <a:p>
            <a:pPr algn="ctr">
              <a:defRPr sz="800" b="0">
                <a:solidFill>
                  <a:srgbClr val="5B6977"/>
                </a:solidFill>
                <a:latin typeface="Aptos"/>
              </a:defRPr>
            </a:pPr>
            <a:r>
              <a:rPr sz="1100">
                <a:solidFill>
                  <a:schemeClr val="tx1">
                    <a:lumMod val="95000"/>
                    <a:lumOff val="5000"/>
                  </a:schemeClr>
                </a:solidFill>
              </a:rPr>
              <a:t>EDA, trends, spatial and commodity views</a:t>
            </a:r>
          </a:p>
        </p:txBody>
      </p:sp>
      <p:sp>
        <p:nvSpPr>
          <p:cNvPr id="31" name="Right Arrow 30"/>
          <p:cNvSpPr/>
          <p:nvPr/>
        </p:nvSpPr>
        <p:spPr>
          <a:xfrm>
            <a:off x="8284463" y="2095344"/>
            <a:ext cx="320040" cy="256032"/>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412480"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85632"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6</a:t>
            </a:r>
          </a:p>
        </p:txBody>
      </p:sp>
      <p:sp>
        <p:nvSpPr>
          <p:cNvPr id="34" name="TextBox 33"/>
          <p:cNvSpPr txBox="1"/>
          <p:nvPr/>
        </p:nvSpPr>
        <p:spPr>
          <a:xfrm>
            <a:off x="8485632"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Model</a:t>
            </a:r>
          </a:p>
        </p:txBody>
      </p:sp>
      <p:sp>
        <p:nvSpPr>
          <p:cNvPr id="35" name="TextBox 34"/>
          <p:cNvSpPr txBox="1"/>
          <p:nvPr/>
        </p:nvSpPr>
        <p:spPr>
          <a:xfrm>
            <a:off x="8485632" y="2621808"/>
            <a:ext cx="1179576" cy="430887"/>
          </a:xfrm>
          <a:prstGeom prst="rect">
            <a:avLst/>
          </a:prstGeom>
          <a:noFill/>
        </p:spPr>
        <p:txBody>
          <a:bodyPr wrap="square" lIns="45720" rIns="45720">
            <a:spAutoFit/>
          </a:bodyPr>
          <a:lstStyle/>
          <a:p>
            <a:pPr algn="ctr">
              <a:defRPr sz="800" b="0">
                <a:solidFill>
                  <a:srgbClr val="5B6977"/>
                </a:solidFill>
                <a:latin typeface="Aptos"/>
              </a:defRPr>
            </a:pPr>
            <a:r>
              <a:rPr sz="1100">
                <a:solidFill>
                  <a:schemeClr val="tx1">
                    <a:lumMod val="95000"/>
                    <a:lumOff val="5000"/>
                  </a:schemeClr>
                </a:solidFill>
              </a:rPr>
              <a:t>PCA, K-Means, DBSCAN</a:t>
            </a:r>
          </a:p>
        </p:txBody>
      </p:sp>
      <p:sp>
        <p:nvSpPr>
          <p:cNvPr id="36" name="Right Arrow 35"/>
          <p:cNvSpPr/>
          <p:nvPr/>
        </p:nvSpPr>
        <p:spPr>
          <a:xfrm>
            <a:off x="9829799" y="2095344"/>
            <a:ext cx="320040" cy="256032"/>
          </a:xfrm>
          <a:prstGeom prst="right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9957816" y="1683864"/>
            <a:ext cx="1325880" cy="91440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30968" y="1857600"/>
            <a:ext cx="1179576" cy="256032"/>
          </a:xfrm>
          <a:prstGeom prst="rect">
            <a:avLst/>
          </a:prstGeom>
          <a:noFill/>
        </p:spPr>
        <p:txBody>
          <a:bodyPr wrap="square" lIns="45720" rIns="45720">
            <a:spAutoFit/>
          </a:bodyPr>
          <a:lstStyle/>
          <a:p>
            <a:pPr algn="ctr">
              <a:defRPr sz="1300" b="1">
                <a:solidFill>
                  <a:srgbClr val="0078D4"/>
                </a:solidFill>
                <a:latin typeface="Aptos"/>
              </a:defRPr>
            </a:pPr>
            <a:r>
              <a:t>7</a:t>
            </a:r>
          </a:p>
        </p:txBody>
      </p:sp>
      <p:sp>
        <p:nvSpPr>
          <p:cNvPr id="39" name="TextBox 38"/>
          <p:cNvSpPr txBox="1"/>
          <p:nvPr/>
        </p:nvSpPr>
        <p:spPr>
          <a:xfrm>
            <a:off x="10030968" y="2131920"/>
            <a:ext cx="1179576" cy="411480"/>
          </a:xfrm>
          <a:prstGeom prst="rect">
            <a:avLst/>
          </a:prstGeom>
          <a:noFill/>
        </p:spPr>
        <p:txBody>
          <a:bodyPr wrap="square" lIns="45720" rIns="45720">
            <a:spAutoFit/>
          </a:bodyPr>
          <a:lstStyle/>
          <a:p>
            <a:pPr algn="ctr">
              <a:defRPr sz="1100" b="1">
                <a:solidFill>
                  <a:srgbClr val="0D2A56"/>
                </a:solidFill>
                <a:latin typeface="Aptos"/>
              </a:defRPr>
            </a:pPr>
            <a:r>
              <a:t>Display</a:t>
            </a:r>
          </a:p>
        </p:txBody>
      </p:sp>
      <p:sp>
        <p:nvSpPr>
          <p:cNvPr id="40" name="TextBox 39"/>
          <p:cNvSpPr txBox="1"/>
          <p:nvPr/>
        </p:nvSpPr>
        <p:spPr>
          <a:xfrm>
            <a:off x="10030968" y="2621808"/>
            <a:ext cx="1179576" cy="600164"/>
          </a:xfrm>
          <a:prstGeom prst="rect">
            <a:avLst/>
          </a:prstGeom>
          <a:noFill/>
        </p:spPr>
        <p:txBody>
          <a:bodyPr wrap="square" lIns="45720" rIns="45720">
            <a:spAutoFit/>
          </a:bodyPr>
          <a:lstStyle/>
          <a:p>
            <a:pPr algn="ctr">
              <a:defRPr sz="800" b="0">
                <a:solidFill>
                  <a:srgbClr val="5B6977"/>
                </a:solidFill>
                <a:latin typeface="Aptos"/>
              </a:defRPr>
            </a:pPr>
            <a:r>
              <a:rPr sz="1100">
                <a:solidFill>
                  <a:schemeClr val="tx1">
                    <a:lumMod val="95000"/>
                    <a:lumOff val="5000"/>
                  </a:schemeClr>
                </a:solidFill>
              </a:rPr>
              <a:t>Streamlit dashboard and reports</a:t>
            </a:r>
          </a:p>
        </p:txBody>
      </p:sp>
      <p:sp>
        <p:nvSpPr>
          <p:cNvPr id="42" name="TextBox 41"/>
          <p:cNvSpPr txBox="1"/>
          <p:nvPr/>
        </p:nvSpPr>
        <p:spPr>
          <a:xfrm>
            <a:off x="685800" y="3546710"/>
            <a:ext cx="10789920" cy="615553"/>
          </a:xfrm>
          <a:prstGeom prst="rect">
            <a:avLst/>
          </a:prstGeom>
          <a:noFill/>
        </p:spPr>
        <p:txBody>
          <a:bodyPr wrap="square" lIns="45720" rIns="45720">
            <a:spAutoFit/>
          </a:bodyPr>
          <a:lstStyle/>
          <a:p>
            <a:pPr>
              <a:defRPr sz="1300" b="0">
                <a:solidFill>
                  <a:srgbClr val="5B6977"/>
                </a:solidFill>
                <a:latin typeface="Aptos"/>
              </a:defRPr>
            </a:pPr>
            <a:r>
              <a:rPr lang="en-US" sz="1700" b="1" dirty="0" smtClean="0">
                <a:solidFill>
                  <a:schemeClr val="tx1">
                    <a:lumMod val="95000"/>
                    <a:lumOff val="5000"/>
                  </a:schemeClr>
                </a:solidFill>
              </a:rPr>
              <a:t>Output Layer: </a:t>
            </a:r>
            <a:r>
              <a:rPr lang="en-US" sz="1700" dirty="0" smtClean="0">
                <a:solidFill>
                  <a:schemeClr val="tx1">
                    <a:lumMod val="95000"/>
                    <a:lumOff val="5000"/>
                  </a:schemeClr>
                </a:solidFill>
              </a:rPr>
              <a:t>shop </a:t>
            </a:r>
            <a:r>
              <a:rPr lang="en-US" sz="1700" dirty="0">
                <a:solidFill>
                  <a:schemeClr val="tx1">
                    <a:lumMod val="95000"/>
                    <a:lumOff val="5000"/>
                  </a:schemeClr>
                </a:solidFill>
              </a:rPr>
              <a:t>profiles, cluster assignments, anomaly flags, maps, tables, and downloadable reports.</a:t>
            </a:r>
          </a:p>
          <a:p>
            <a:pPr algn="l">
              <a:defRPr sz="1300" b="0">
                <a:solidFill>
                  <a:srgbClr val="5B6977"/>
                </a:solidFill>
                <a:latin typeface="Aptos"/>
              </a:defRPr>
            </a:pPr>
            <a:r>
              <a:rPr lang="en-SG" sz="1700" b="1" dirty="0" smtClean="0">
                <a:solidFill>
                  <a:schemeClr val="tx1">
                    <a:lumMod val="95000"/>
                    <a:lumOff val="5000"/>
                  </a:schemeClr>
                </a:solidFill>
              </a:rPr>
              <a:t>Value Layer: </a:t>
            </a:r>
            <a:r>
              <a:rPr sz="1700" dirty="0" smtClean="0">
                <a:solidFill>
                  <a:schemeClr val="tx1">
                    <a:lumMod val="95000"/>
                    <a:lumOff val="5000"/>
                  </a:schemeClr>
                </a:solidFill>
              </a:rPr>
              <a:t>identify </a:t>
            </a:r>
            <a:r>
              <a:rPr sz="1700" dirty="0">
                <a:solidFill>
                  <a:schemeClr val="tx1">
                    <a:lumMod val="95000"/>
                    <a:lumOff val="5000"/>
                  </a:schemeClr>
                </a:solidFill>
              </a:rPr>
              <a:t>behavioral patterns, support investigation, and provide evidence to decision-makers.</a:t>
            </a:r>
          </a:p>
        </p:txBody>
      </p:sp>
      <p:sp>
        <p:nvSpPr>
          <p:cNvPr id="43" name="Rounded Rectangle 42"/>
          <p:cNvSpPr/>
          <p:nvPr/>
        </p:nvSpPr>
        <p:spPr>
          <a:xfrm>
            <a:off x="685800" y="4518504"/>
            <a:ext cx="5212080" cy="13258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5800" y="4518504"/>
            <a:ext cx="73152" cy="13258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86968" y="4655664"/>
            <a:ext cx="48920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Why Each Stage Matters</a:t>
            </a:r>
            <a:endParaRPr lang="en-SG" sz="2000" dirty="0"/>
          </a:p>
        </p:txBody>
      </p:sp>
      <p:sp>
        <p:nvSpPr>
          <p:cNvPr id="46" name="TextBox 45"/>
          <p:cNvSpPr txBox="1"/>
          <p:nvPr/>
        </p:nvSpPr>
        <p:spPr>
          <a:xfrm>
            <a:off x="882396" y="5033113"/>
            <a:ext cx="4892040" cy="584775"/>
          </a:xfrm>
          <a:prstGeom prst="rect">
            <a:avLst/>
          </a:prstGeom>
          <a:noFill/>
        </p:spPr>
        <p:txBody>
          <a:bodyPr wrap="square" lIns="45720" rIns="45720">
            <a:spAutoFit/>
          </a:bodyPr>
          <a:lstStyle/>
          <a:p>
            <a:pPr algn="ctr">
              <a:defRPr sz="1000" b="0">
                <a:solidFill>
                  <a:srgbClr val="1F2B39"/>
                </a:solidFill>
                <a:latin typeface="Aptos"/>
              </a:defRPr>
            </a:pPr>
            <a:r>
              <a:rPr sz="1600" dirty="0"/>
              <a:t>Every stage creates a measurable or auditable output for the next decision.</a:t>
            </a:r>
          </a:p>
        </p:txBody>
      </p:sp>
      <p:sp>
        <p:nvSpPr>
          <p:cNvPr id="47" name="Rounded Rectangle 46"/>
          <p:cNvSpPr/>
          <p:nvPr/>
        </p:nvSpPr>
        <p:spPr>
          <a:xfrm>
            <a:off x="6172200" y="4518504"/>
            <a:ext cx="5212080" cy="13258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72200" y="4518504"/>
            <a:ext cx="73152" cy="132588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70258" y="4593617"/>
            <a:ext cx="48920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No Hidden Black Box</a:t>
            </a:r>
            <a:endParaRPr lang="en-SG" sz="2000" dirty="0"/>
          </a:p>
        </p:txBody>
      </p:sp>
      <p:sp>
        <p:nvSpPr>
          <p:cNvPr id="50" name="TextBox 49"/>
          <p:cNvSpPr txBox="1"/>
          <p:nvPr/>
        </p:nvSpPr>
        <p:spPr>
          <a:xfrm>
            <a:off x="6373368" y="5040880"/>
            <a:ext cx="4892040" cy="584775"/>
          </a:xfrm>
          <a:prstGeom prst="rect">
            <a:avLst/>
          </a:prstGeom>
          <a:noFill/>
        </p:spPr>
        <p:txBody>
          <a:bodyPr wrap="square" lIns="45720" rIns="45720">
            <a:spAutoFit/>
          </a:bodyPr>
          <a:lstStyle/>
          <a:p>
            <a:pPr algn="ctr">
              <a:defRPr sz="1000" b="0">
                <a:solidFill>
                  <a:srgbClr val="1F2B39"/>
                </a:solidFill>
                <a:latin typeface="Aptos"/>
              </a:defRPr>
            </a:pPr>
            <a:r>
              <a:rPr sz="1600" dirty="0"/>
              <a:t>The app and notebook expose filtering, profiling, clustering, anomaly, and report outputs.</a:t>
            </a:r>
          </a:p>
        </p:txBody>
      </p:sp>
      <p:sp>
        <p:nvSpPr>
          <p:cNvPr id="51" name="TextBox 50"/>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EVIDENCE-FIRST EXPLORATION</a:t>
            </a:r>
          </a:p>
        </p:txBody>
      </p:sp>
      <p:sp>
        <p:nvSpPr>
          <p:cNvPr id="3" name="TextBox 2"/>
          <p:cNvSpPr txBox="1"/>
          <p:nvPr/>
        </p:nvSpPr>
        <p:spPr>
          <a:xfrm>
            <a:off x="566928" y="468880"/>
            <a:ext cx="6583854" cy="507831"/>
          </a:xfrm>
          <a:prstGeom prst="rect">
            <a:avLst/>
          </a:prstGeom>
          <a:noFill/>
        </p:spPr>
        <p:txBody>
          <a:bodyPr wrap="none">
            <a:spAutoFit/>
          </a:bodyPr>
          <a:lstStyle/>
          <a:p>
            <a:pPr>
              <a:defRPr sz="2700" b="1">
                <a:solidFill>
                  <a:srgbClr val="0D2A56"/>
                </a:solidFill>
                <a:latin typeface="Aptos"/>
              </a:defRPr>
            </a:pPr>
            <a:r>
              <a:rPr lang="en-US" dirty="0" smtClean="0"/>
              <a:t>Exploratory Analysis And Key Patterns</a:t>
            </a:r>
            <a:endParaRPr lang="en-US" dirty="0"/>
          </a:p>
        </p:txBody>
      </p:sp>
      <p:sp>
        <p:nvSpPr>
          <p:cNvPr id="4" name="TextBox 3"/>
          <p:cNvSpPr txBox="1"/>
          <p:nvPr/>
        </p:nvSpPr>
        <p:spPr>
          <a:xfrm>
            <a:off x="566928" y="947288"/>
            <a:ext cx="10789920" cy="320040"/>
          </a:xfrm>
          <a:prstGeom prst="rect">
            <a:avLst/>
          </a:prstGeom>
          <a:noFill/>
        </p:spPr>
        <p:txBody>
          <a:bodyPr wrap="none">
            <a:spAutoFit/>
          </a:bodyPr>
          <a:lstStyle/>
          <a:p>
            <a:pPr>
              <a:defRPr sz="1200">
                <a:solidFill>
                  <a:srgbClr val="5B6977"/>
                </a:solidFill>
                <a:latin typeface="Aptos"/>
              </a:defRPr>
            </a:pPr>
            <a:r>
              <a:t>What the data answers</a:t>
            </a:r>
          </a:p>
        </p:txBody>
      </p:sp>
      <p:sp>
        <p:nvSpPr>
          <p:cNvPr id="5" name="Rectangle 4"/>
          <p:cNvSpPr/>
          <p:nvPr/>
        </p:nvSpPr>
        <p:spPr>
          <a:xfrm>
            <a:off x="566928" y="1322192"/>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07</a:t>
            </a:r>
          </a:p>
        </p:txBody>
      </p:sp>
      <p:sp>
        <p:nvSpPr>
          <p:cNvPr id="7" name="Rounded Rectangle 6"/>
          <p:cNvSpPr/>
          <p:nvPr/>
        </p:nvSpPr>
        <p:spPr>
          <a:xfrm>
            <a:off x="685800" y="1660520"/>
            <a:ext cx="3383280" cy="15544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60520"/>
            <a:ext cx="73152" cy="15544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797680"/>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Time And Coverage</a:t>
            </a:r>
            <a:endParaRPr lang="en-SG" sz="2000" dirty="0"/>
          </a:p>
        </p:txBody>
      </p:sp>
      <p:sp>
        <p:nvSpPr>
          <p:cNvPr id="10" name="TextBox 9"/>
          <p:cNvSpPr txBox="1"/>
          <p:nvPr/>
        </p:nvSpPr>
        <p:spPr>
          <a:xfrm>
            <a:off x="886968" y="2192624"/>
            <a:ext cx="3063240" cy="830997"/>
          </a:xfrm>
          <a:prstGeom prst="rect">
            <a:avLst/>
          </a:prstGeom>
          <a:noFill/>
        </p:spPr>
        <p:txBody>
          <a:bodyPr wrap="square" lIns="45720" rIns="45720">
            <a:spAutoFit/>
          </a:bodyPr>
          <a:lstStyle/>
          <a:p>
            <a:pPr algn="ctr">
              <a:defRPr sz="1000" b="0">
                <a:solidFill>
                  <a:srgbClr val="1F2B39"/>
                </a:solidFill>
                <a:latin typeface="Aptos"/>
              </a:defRPr>
            </a:pPr>
            <a:r>
              <a:rPr sz="1600" dirty="0"/>
              <a:t>Monthly active-shop coverage and transaction volume reveal how activity changes over time.</a:t>
            </a:r>
          </a:p>
        </p:txBody>
      </p:sp>
      <p:sp>
        <p:nvSpPr>
          <p:cNvPr id="11" name="Rounded Rectangle 10"/>
          <p:cNvSpPr/>
          <p:nvPr/>
        </p:nvSpPr>
        <p:spPr>
          <a:xfrm>
            <a:off x="4251960" y="1660520"/>
            <a:ext cx="3383280" cy="15544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660520"/>
            <a:ext cx="73152" cy="155448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128" y="1797680"/>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Regional Differences</a:t>
            </a:r>
            <a:endParaRPr lang="en-SG" sz="2000" dirty="0"/>
          </a:p>
        </p:txBody>
      </p:sp>
      <p:sp>
        <p:nvSpPr>
          <p:cNvPr id="14" name="TextBox 13"/>
          <p:cNvSpPr txBox="1"/>
          <p:nvPr/>
        </p:nvSpPr>
        <p:spPr>
          <a:xfrm>
            <a:off x="4443400" y="2212080"/>
            <a:ext cx="3063240" cy="830997"/>
          </a:xfrm>
          <a:prstGeom prst="rect">
            <a:avLst/>
          </a:prstGeom>
          <a:noFill/>
        </p:spPr>
        <p:txBody>
          <a:bodyPr wrap="square" lIns="45720" rIns="45720">
            <a:spAutoFit/>
          </a:bodyPr>
          <a:lstStyle/>
          <a:p>
            <a:pPr algn="ctr">
              <a:defRPr sz="1000" b="0">
                <a:solidFill>
                  <a:srgbClr val="1F2B39"/>
                </a:solidFill>
                <a:latin typeface="Aptos"/>
              </a:defRPr>
            </a:pPr>
            <a:r>
              <a:rPr sz="1600" dirty="0"/>
              <a:t>District-level transaction totals and </a:t>
            </a:r>
            <a:r>
              <a:rPr sz="1600" dirty="0" err="1"/>
              <a:t>heatmaps</a:t>
            </a:r>
            <a:r>
              <a:rPr sz="1600" dirty="0"/>
              <a:t> show where activity is concentrated.</a:t>
            </a:r>
          </a:p>
        </p:txBody>
      </p:sp>
      <p:sp>
        <p:nvSpPr>
          <p:cNvPr id="15" name="Rounded Rectangle 14"/>
          <p:cNvSpPr/>
          <p:nvPr/>
        </p:nvSpPr>
        <p:spPr>
          <a:xfrm>
            <a:off x="7818120" y="1660520"/>
            <a:ext cx="3383280" cy="15544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1660520"/>
            <a:ext cx="73152" cy="155448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1797680"/>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Commodity Mix</a:t>
            </a:r>
            <a:endParaRPr lang="en-SG" sz="2000" dirty="0"/>
          </a:p>
        </p:txBody>
      </p:sp>
      <p:sp>
        <p:nvSpPr>
          <p:cNvPr id="18" name="TextBox 17"/>
          <p:cNvSpPr txBox="1"/>
          <p:nvPr/>
        </p:nvSpPr>
        <p:spPr>
          <a:xfrm>
            <a:off x="7891273" y="2202352"/>
            <a:ext cx="3383084" cy="830997"/>
          </a:xfrm>
          <a:prstGeom prst="rect">
            <a:avLst/>
          </a:prstGeom>
          <a:noFill/>
        </p:spPr>
        <p:txBody>
          <a:bodyPr wrap="square" lIns="45720" rIns="45720">
            <a:spAutoFit/>
          </a:bodyPr>
          <a:lstStyle/>
          <a:p>
            <a:pPr algn="ctr">
              <a:defRPr sz="1000" b="0">
                <a:solidFill>
                  <a:srgbClr val="1F2B39"/>
                </a:solidFill>
                <a:latin typeface="Aptos"/>
              </a:defRPr>
            </a:pPr>
            <a:r>
              <a:rPr sz="1600" dirty="0"/>
              <a:t>Rice, wheat, sugar, and other commodities are summarized to understand distribution composition.</a:t>
            </a:r>
          </a:p>
        </p:txBody>
      </p:sp>
      <p:sp>
        <p:nvSpPr>
          <p:cNvPr id="19" name="Rounded Rectangle 18"/>
          <p:cNvSpPr/>
          <p:nvPr/>
        </p:nvSpPr>
        <p:spPr>
          <a:xfrm>
            <a:off x="685800" y="3580760"/>
            <a:ext cx="3383280" cy="15544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580760"/>
            <a:ext cx="73152" cy="15544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717920"/>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Transactions Vs Cards</a:t>
            </a:r>
            <a:endParaRPr lang="en-SG" sz="2000" dirty="0"/>
          </a:p>
        </p:txBody>
      </p:sp>
      <p:sp>
        <p:nvSpPr>
          <p:cNvPr id="22" name="TextBox 21"/>
          <p:cNvSpPr txBox="1"/>
          <p:nvPr/>
        </p:nvSpPr>
        <p:spPr>
          <a:xfrm>
            <a:off x="877240" y="4122592"/>
            <a:ext cx="3072968" cy="830997"/>
          </a:xfrm>
          <a:prstGeom prst="rect">
            <a:avLst/>
          </a:prstGeom>
          <a:noFill/>
        </p:spPr>
        <p:txBody>
          <a:bodyPr wrap="square" lIns="45720" rIns="45720">
            <a:spAutoFit/>
          </a:bodyPr>
          <a:lstStyle/>
          <a:p>
            <a:pPr algn="ctr">
              <a:defRPr sz="1000" b="0">
                <a:solidFill>
                  <a:srgbClr val="1F2B39"/>
                </a:solidFill>
                <a:latin typeface="Aptos"/>
              </a:defRPr>
            </a:pPr>
            <a:r>
              <a:rPr sz="1600">
                <a:solidFill>
                  <a:schemeClr val="tx1">
                    <a:lumMod val="95000"/>
                    <a:lumOff val="5000"/>
                  </a:schemeClr>
                </a:solidFill>
              </a:rPr>
              <a:t>Scatter analysis compares ration-card capacity with actual transaction activity.</a:t>
            </a:r>
          </a:p>
        </p:txBody>
      </p:sp>
      <p:sp>
        <p:nvSpPr>
          <p:cNvPr id="23" name="Rounded Rectangle 22"/>
          <p:cNvSpPr/>
          <p:nvPr/>
        </p:nvSpPr>
        <p:spPr>
          <a:xfrm>
            <a:off x="4251960" y="3580760"/>
            <a:ext cx="3383280" cy="15544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251960" y="3580760"/>
            <a:ext cx="73152" cy="155448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53128" y="3717920"/>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Portability </a:t>
            </a:r>
            <a:r>
              <a:rPr lang="en-SG" sz="2000" dirty="0" err="1" smtClean="0"/>
              <a:t>Behavior</a:t>
            </a:r>
            <a:endParaRPr lang="en-SG" sz="2000" dirty="0"/>
          </a:p>
        </p:txBody>
      </p:sp>
      <p:sp>
        <p:nvSpPr>
          <p:cNvPr id="26" name="TextBox 25"/>
          <p:cNvSpPr txBox="1"/>
          <p:nvPr/>
        </p:nvSpPr>
        <p:spPr>
          <a:xfrm>
            <a:off x="4352544" y="4114809"/>
            <a:ext cx="3310128" cy="1077218"/>
          </a:xfrm>
          <a:prstGeom prst="rect">
            <a:avLst/>
          </a:prstGeom>
          <a:noFill/>
        </p:spPr>
        <p:txBody>
          <a:bodyPr wrap="square" lIns="45720" rIns="45720">
            <a:spAutoFit/>
          </a:bodyPr>
          <a:lstStyle/>
          <a:p>
            <a:pPr algn="ctr">
              <a:defRPr sz="1000" b="0">
                <a:solidFill>
                  <a:srgbClr val="1F2B39"/>
                </a:solidFill>
                <a:latin typeface="Aptos"/>
              </a:defRPr>
            </a:pPr>
            <a:r>
              <a:rPr sz="1600" dirty="0">
                <a:solidFill>
                  <a:schemeClr val="tx1">
                    <a:lumMod val="95000"/>
                    <a:lumOff val="5000"/>
                  </a:schemeClr>
                </a:solidFill>
              </a:rPr>
              <a:t>Portable-share ratios and trends show how OTHER-shop transactions vary across time and shops.</a:t>
            </a:r>
          </a:p>
        </p:txBody>
      </p:sp>
      <p:sp>
        <p:nvSpPr>
          <p:cNvPr id="27" name="Rounded Rectangle 26"/>
          <p:cNvSpPr/>
          <p:nvPr/>
        </p:nvSpPr>
        <p:spPr>
          <a:xfrm>
            <a:off x="7818120" y="3580760"/>
            <a:ext cx="3383280" cy="15544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18120" y="3580760"/>
            <a:ext cx="73152" cy="155448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019288" y="3717920"/>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Shop </a:t>
            </a:r>
            <a:r>
              <a:rPr lang="en-SG" sz="2000" dirty="0" err="1" smtClean="0"/>
              <a:t>Behavior</a:t>
            </a:r>
            <a:endParaRPr lang="en-SG" sz="2000" dirty="0"/>
          </a:p>
        </p:txBody>
      </p:sp>
      <p:sp>
        <p:nvSpPr>
          <p:cNvPr id="30" name="TextBox 29"/>
          <p:cNvSpPr txBox="1"/>
          <p:nvPr/>
        </p:nvSpPr>
        <p:spPr>
          <a:xfrm>
            <a:off x="8009560" y="4122592"/>
            <a:ext cx="3072968" cy="830997"/>
          </a:xfrm>
          <a:prstGeom prst="rect">
            <a:avLst/>
          </a:prstGeom>
          <a:noFill/>
        </p:spPr>
        <p:txBody>
          <a:bodyPr wrap="square" lIns="45720" rIns="45720">
            <a:spAutoFit/>
          </a:bodyPr>
          <a:lstStyle/>
          <a:p>
            <a:pPr algn="ctr">
              <a:defRPr sz="1000" b="0">
                <a:solidFill>
                  <a:srgbClr val="1F2B39"/>
                </a:solidFill>
                <a:latin typeface="Aptos"/>
              </a:defRPr>
            </a:pPr>
            <a:r>
              <a:rPr sz="1600">
                <a:solidFill>
                  <a:schemeClr val="tx1">
                    <a:lumMod val="95000"/>
                    <a:lumOff val="5000"/>
                  </a:schemeClr>
                </a:solidFill>
              </a:rPr>
              <a:t>Shop-level aggregation captures averages, dispersion, growth, and utilization.</a:t>
            </a:r>
          </a:p>
        </p:txBody>
      </p:sp>
      <p:sp>
        <p:nvSpPr>
          <p:cNvPr id="31" name="TextBox 30"/>
          <p:cNvSpPr txBox="1"/>
          <p:nvPr/>
        </p:nvSpPr>
        <p:spPr>
          <a:xfrm>
            <a:off x="685800" y="5592440"/>
            <a:ext cx="10515600" cy="707886"/>
          </a:xfrm>
          <a:prstGeom prst="rect">
            <a:avLst/>
          </a:prstGeom>
          <a:noFill/>
        </p:spPr>
        <p:txBody>
          <a:bodyPr wrap="square" lIns="45720" rIns="45720">
            <a:spAutoFit/>
          </a:bodyPr>
          <a:lstStyle/>
          <a:p>
            <a:pPr algn="l">
              <a:defRPr sz="1300" b="1">
                <a:solidFill>
                  <a:srgbClr val="0D2A56"/>
                </a:solidFill>
                <a:latin typeface="Aptos"/>
              </a:defRPr>
            </a:pPr>
            <a:r>
              <a:rPr sz="2000" dirty="0"/>
              <a:t>The analysis is designed to answer: where, when, which shops, and which behavior patterns differ—not simply to display charts.</a:t>
            </a:r>
          </a:p>
        </p:txBody>
      </p:sp>
      <p:sp>
        <p:nvSpPr>
          <p:cNvPr id="32" name="TextBox 3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ANALYTICS-LED PROJECT WITH ML INTELLIGENCE</a:t>
            </a:r>
          </a:p>
        </p:txBody>
      </p:sp>
      <p:sp>
        <p:nvSpPr>
          <p:cNvPr id="3" name="TextBox 2"/>
          <p:cNvSpPr txBox="1"/>
          <p:nvPr/>
        </p:nvSpPr>
        <p:spPr>
          <a:xfrm>
            <a:off x="566928" y="536968"/>
            <a:ext cx="4826962" cy="507831"/>
          </a:xfrm>
          <a:prstGeom prst="rect">
            <a:avLst/>
          </a:prstGeom>
          <a:noFill/>
        </p:spPr>
        <p:txBody>
          <a:bodyPr wrap="none">
            <a:spAutoFit/>
          </a:bodyPr>
          <a:lstStyle/>
          <a:p>
            <a:pPr>
              <a:defRPr sz="2700" b="1">
                <a:solidFill>
                  <a:srgbClr val="0D2A56"/>
                </a:solidFill>
                <a:latin typeface="Aptos"/>
              </a:defRPr>
            </a:pPr>
            <a:r>
              <a:rPr lang="en-SG" dirty="0" smtClean="0"/>
              <a:t>Machine Learning Approach</a:t>
            </a:r>
            <a:endParaRPr lang="en-SG" dirty="0"/>
          </a:p>
        </p:txBody>
      </p:sp>
      <p:sp>
        <p:nvSpPr>
          <p:cNvPr id="4" name="TextBox 3"/>
          <p:cNvSpPr txBox="1"/>
          <p:nvPr/>
        </p:nvSpPr>
        <p:spPr>
          <a:xfrm>
            <a:off x="566928" y="1015384"/>
            <a:ext cx="10789920" cy="320040"/>
          </a:xfrm>
          <a:prstGeom prst="rect">
            <a:avLst/>
          </a:prstGeom>
          <a:noFill/>
        </p:spPr>
        <p:txBody>
          <a:bodyPr wrap="none">
            <a:spAutoFit/>
          </a:bodyPr>
          <a:lstStyle/>
          <a:p>
            <a:pPr>
              <a:defRPr sz="1200">
                <a:solidFill>
                  <a:srgbClr val="5B6977"/>
                </a:solidFill>
                <a:latin typeface="Aptos"/>
              </a:defRPr>
            </a:pPr>
            <a:r>
              <a:t>Clustering for structure; anomaly detection for unusual behavior</a:t>
            </a:r>
          </a:p>
        </p:txBody>
      </p:sp>
      <p:sp>
        <p:nvSpPr>
          <p:cNvPr id="5" name="Rectangle 4"/>
          <p:cNvSpPr/>
          <p:nvPr/>
        </p:nvSpPr>
        <p:spPr>
          <a:xfrm>
            <a:off x="566928" y="1390288"/>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08</a:t>
            </a:r>
          </a:p>
        </p:txBody>
      </p:sp>
      <p:sp>
        <p:nvSpPr>
          <p:cNvPr id="7" name="Rounded Rectangle 6"/>
          <p:cNvSpPr/>
          <p:nvPr/>
        </p:nvSpPr>
        <p:spPr>
          <a:xfrm>
            <a:off x="685800" y="1774336"/>
            <a:ext cx="3383280" cy="19659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774336"/>
            <a:ext cx="73152" cy="19659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911496"/>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PCA</a:t>
            </a:r>
            <a:endParaRPr lang="en-SG" sz="2000" dirty="0"/>
          </a:p>
        </p:txBody>
      </p:sp>
      <p:sp>
        <p:nvSpPr>
          <p:cNvPr id="10" name="TextBox 9"/>
          <p:cNvSpPr txBox="1"/>
          <p:nvPr/>
        </p:nvSpPr>
        <p:spPr>
          <a:xfrm>
            <a:off x="886968" y="2277256"/>
            <a:ext cx="3063240" cy="1325880"/>
          </a:xfrm>
          <a:prstGeom prst="rect">
            <a:avLst/>
          </a:prstGeom>
          <a:noFill/>
        </p:spPr>
        <p:txBody>
          <a:bodyPr wrap="square" lIns="45720" rIns="45720">
            <a:spAutoFit/>
          </a:bodyPr>
          <a:lstStyle/>
          <a:p>
            <a:pPr algn="ctr">
              <a:defRPr sz="1000" b="0">
                <a:solidFill>
                  <a:srgbClr val="1F2B39"/>
                </a:solidFill>
                <a:latin typeface="Aptos"/>
              </a:defRPr>
            </a:pPr>
            <a:r>
              <a:rPr sz="1600"/>
              <a:t>Reduces 15 scaled features to two dimensions for visual exploration. First two components explain about 59.0% of variance.</a:t>
            </a:r>
          </a:p>
        </p:txBody>
      </p:sp>
      <p:sp>
        <p:nvSpPr>
          <p:cNvPr id="11" name="Rounded Rectangle 10"/>
          <p:cNvSpPr/>
          <p:nvPr/>
        </p:nvSpPr>
        <p:spPr>
          <a:xfrm>
            <a:off x="4251960" y="1774336"/>
            <a:ext cx="3383280" cy="19659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774336"/>
            <a:ext cx="73152" cy="196596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128" y="1911496"/>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K-MEANS</a:t>
            </a:r>
            <a:endParaRPr lang="en-SG" sz="2000" dirty="0"/>
          </a:p>
        </p:txBody>
      </p:sp>
      <p:sp>
        <p:nvSpPr>
          <p:cNvPr id="14" name="TextBox 13"/>
          <p:cNvSpPr txBox="1"/>
          <p:nvPr/>
        </p:nvSpPr>
        <p:spPr>
          <a:xfrm>
            <a:off x="4453128" y="2393992"/>
            <a:ext cx="3063240" cy="1077218"/>
          </a:xfrm>
          <a:prstGeom prst="rect">
            <a:avLst/>
          </a:prstGeom>
          <a:noFill/>
        </p:spPr>
        <p:txBody>
          <a:bodyPr wrap="square" lIns="45720" rIns="45720">
            <a:spAutoFit/>
          </a:bodyPr>
          <a:lstStyle/>
          <a:p>
            <a:pPr algn="ctr">
              <a:defRPr sz="1000" b="0">
                <a:solidFill>
                  <a:srgbClr val="1F2B39"/>
                </a:solidFill>
                <a:latin typeface="Aptos"/>
              </a:defRPr>
            </a:pPr>
            <a:r>
              <a:rPr sz="1600" dirty="0"/>
              <a:t>Groups shops into four behavioral clusters using 15 features. The model is selected by elbow and silhouette analysis.</a:t>
            </a:r>
          </a:p>
        </p:txBody>
      </p:sp>
      <p:sp>
        <p:nvSpPr>
          <p:cNvPr id="15" name="Rounded Rectangle 14"/>
          <p:cNvSpPr/>
          <p:nvPr/>
        </p:nvSpPr>
        <p:spPr>
          <a:xfrm>
            <a:off x="7818120" y="1774336"/>
            <a:ext cx="3383280" cy="19659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1774336"/>
            <a:ext cx="73152" cy="196596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1921224"/>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DBSCAN</a:t>
            </a:r>
            <a:endParaRPr lang="en-SG" sz="2000" dirty="0"/>
          </a:p>
        </p:txBody>
      </p:sp>
      <p:sp>
        <p:nvSpPr>
          <p:cNvPr id="18" name="TextBox 17"/>
          <p:cNvSpPr txBox="1"/>
          <p:nvPr/>
        </p:nvSpPr>
        <p:spPr>
          <a:xfrm>
            <a:off x="8019288" y="2578812"/>
            <a:ext cx="3063240" cy="830997"/>
          </a:xfrm>
          <a:prstGeom prst="rect">
            <a:avLst/>
          </a:prstGeom>
          <a:noFill/>
        </p:spPr>
        <p:txBody>
          <a:bodyPr wrap="square" lIns="45720" rIns="45720">
            <a:spAutoFit/>
          </a:bodyPr>
          <a:lstStyle/>
          <a:p>
            <a:pPr algn="ctr">
              <a:defRPr sz="1000" b="0">
                <a:solidFill>
                  <a:srgbClr val="1F2B39"/>
                </a:solidFill>
                <a:latin typeface="Aptos"/>
              </a:defRPr>
            </a:pPr>
            <a:r>
              <a:rPr sz="1600" dirty="0"/>
              <a:t>Treats low-density shop profiles as outliers; label -1 represents a potential anomaly profile.</a:t>
            </a:r>
          </a:p>
        </p:txBody>
      </p:sp>
      <p:sp>
        <p:nvSpPr>
          <p:cNvPr id="19" name="TextBox 18"/>
          <p:cNvSpPr txBox="1"/>
          <p:nvPr/>
        </p:nvSpPr>
        <p:spPr>
          <a:xfrm>
            <a:off x="685800" y="4060335"/>
            <a:ext cx="10515600" cy="320040"/>
          </a:xfrm>
          <a:prstGeom prst="rect">
            <a:avLst/>
          </a:prstGeom>
          <a:noFill/>
        </p:spPr>
        <p:txBody>
          <a:bodyPr wrap="square" lIns="45720" rIns="45720">
            <a:spAutoFit/>
          </a:bodyPr>
          <a:lstStyle/>
          <a:p>
            <a:pPr algn="l">
              <a:defRPr sz="1300" b="1">
                <a:solidFill>
                  <a:srgbClr val="0D2A56"/>
                </a:solidFill>
                <a:latin typeface="Aptos"/>
              </a:defRPr>
            </a:pPr>
            <a:r>
              <a:rPr dirty="0"/>
              <a:t>Model inputs: transaction volume, transaction dispersion, cards, utilization, portability, rice/wheat/sugar, and growth.</a:t>
            </a:r>
          </a:p>
        </p:txBody>
      </p:sp>
      <p:sp>
        <p:nvSpPr>
          <p:cNvPr id="20" name="TextBox 19"/>
          <p:cNvSpPr txBox="1"/>
          <p:nvPr/>
        </p:nvSpPr>
        <p:spPr>
          <a:xfrm>
            <a:off x="2852928" y="4436035"/>
            <a:ext cx="5166360" cy="461665"/>
          </a:xfrm>
          <a:prstGeom prst="rect">
            <a:avLst/>
          </a:prstGeom>
          <a:noFill/>
        </p:spPr>
        <p:txBody>
          <a:bodyPr wrap="square" lIns="45720" rIns="45720">
            <a:spAutoFit/>
          </a:bodyPr>
          <a:lstStyle/>
          <a:p>
            <a:pPr algn="ctr">
              <a:defRPr sz="1400" b="1">
                <a:solidFill>
                  <a:srgbClr val="0D2A56"/>
                </a:solidFill>
                <a:latin typeface="Aptos"/>
              </a:defRPr>
            </a:pPr>
            <a:r>
              <a:rPr sz="2400" dirty="0"/>
              <a:t>K-Means validation</a:t>
            </a:r>
          </a:p>
        </p:txBody>
      </p:sp>
      <p:sp>
        <p:nvSpPr>
          <p:cNvPr id="21" name="Rounded Rectangle 20"/>
          <p:cNvSpPr/>
          <p:nvPr/>
        </p:nvSpPr>
        <p:spPr>
          <a:xfrm>
            <a:off x="1940667" y="5045751"/>
            <a:ext cx="2468880" cy="77724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940667" y="5045751"/>
            <a:ext cx="2468880" cy="73152"/>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05259" y="5274351"/>
            <a:ext cx="2139696" cy="457200"/>
          </a:xfrm>
          <a:prstGeom prst="rect">
            <a:avLst/>
          </a:prstGeom>
          <a:noFill/>
        </p:spPr>
        <p:txBody>
          <a:bodyPr wrap="square" lIns="45720" rIns="45720">
            <a:spAutoFit/>
          </a:bodyPr>
          <a:lstStyle/>
          <a:p>
            <a:pPr algn="ctr">
              <a:defRPr sz="2400" b="1">
                <a:solidFill>
                  <a:srgbClr val="25AAA0"/>
                </a:solidFill>
                <a:latin typeface="Aptos"/>
              </a:defRPr>
            </a:pPr>
            <a:r>
              <a:t>0.309</a:t>
            </a:r>
          </a:p>
        </p:txBody>
      </p:sp>
      <p:sp>
        <p:nvSpPr>
          <p:cNvPr id="24" name="TextBox 23"/>
          <p:cNvSpPr txBox="1"/>
          <p:nvPr/>
        </p:nvSpPr>
        <p:spPr>
          <a:xfrm>
            <a:off x="2105259" y="5828830"/>
            <a:ext cx="2139696" cy="320040"/>
          </a:xfrm>
          <a:prstGeom prst="rect">
            <a:avLst/>
          </a:prstGeom>
          <a:noFill/>
        </p:spPr>
        <p:txBody>
          <a:bodyPr wrap="square" lIns="45720" rIns="45720">
            <a:spAutoFit/>
          </a:bodyPr>
          <a:lstStyle/>
          <a:p>
            <a:pPr algn="ctr">
              <a:defRPr sz="1000" b="0">
                <a:solidFill>
                  <a:srgbClr val="5B6977"/>
                </a:solidFill>
                <a:latin typeface="Aptos"/>
              </a:defRPr>
            </a:pPr>
            <a:r>
              <a:rPr sz="1400" b="1">
                <a:solidFill>
                  <a:schemeClr val="tx1">
                    <a:lumMod val="95000"/>
                    <a:lumOff val="5000"/>
                  </a:schemeClr>
                </a:solidFill>
              </a:rPr>
              <a:t>Silhouette</a:t>
            </a:r>
          </a:p>
        </p:txBody>
      </p:sp>
      <p:sp>
        <p:nvSpPr>
          <p:cNvPr id="25" name="Rounded Rectangle 24"/>
          <p:cNvSpPr/>
          <p:nvPr/>
        </p:nvSpPr>
        <p:spPr>
          <a:xfrm>
            <a:off x="4592427" y="5045751"/>
            <a:ext cx="2468880" cy="77724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92427" y="5045751"/>
            <a:ext cx="24688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57019" y="5274351"/>
            <a:ext cx="2139696" cy="457200"/>
          </a:xfrm>
          <a:prstGeom prst="rect">
            <a:avLst/>
          </a:prstGeom>
          <a:noFill/>
        </p:spPr>
        <p:txBody>
          <a:bodyPr wrap="square" lIns="45720" rIns="45720">
            <a:spAutoFit/>
          </a:bodyPr>
          <a:lstStyle/>
          <a:p>
            <a:pPr algn="ctr">
              <a:defRPr sz="2400" b="1">
                <a:solidFill>
                  <a:srgbClr val="0078D4"/>
                </a:solidFill>
                <a:latin typeface="Aptos"/>
              </a:defRPr>
            </a:pPr>
            <a:r>
              <a:t>1.117</a:t>
            </a:r>
          </a:p>
        </p:txBody>
      </p:sp>
      <p:sp>
        <p:nvSpPr>
          <p:cNvPr id="28" name="TextBox 27"/>
          <p:cNvSpPr txBox="1"/>
          <p:nvPr/>
        </p:nvSpPr>
        <p:spPr>
          <a:xfrm>
            <a:off x="4757019" y="5828830"/>
            <a:ext cx="2139696" cy="320040"/>
          </a:xfrm>
          <a:prstGeom prst="rect">
            <a:avLst/>
          </a:prstGeom>
          <a:noFill/>
        </p:spPr>
        <p:txBody>
          <a:bodyPr wrap="square" lIns="45720" rIns="45720">
            <a:spAutoFit/>
          </a:bodyPr>
          <a:lstStyle/>
          <a:p>
            <a:pPr algn="ctr">
              <a:defRPr sz="1000" b="0">
                <a:solidFill>
                  <a:srgbClr val="5B6977"/>
                </a:solidFill>
                <a:latin typeface="Aptos"/>
              </a:defRPr>
            </a:pPr>
            <a:r>
              <a:rPr sz="1400" b="1">
                <a:solidFill>
                  <a:schemeClr val="tx1">
                    <a:lumMod val="95000"/>
                    <a:lumOff val="5000"/>
                  </a:schemeClr>
                </a:solidFill>
              </a:rPr>
              <a:t>Davies–Bouldin</a:t>
            </a:r>
          </a:p>
        </p:txBody>
      </p:sp>
      <p:sp>
        <p:nvSpPr>
          <p:cNvPr id="29" name="Rounded Rectangle 28"/>
          <p:cNvSpPr/>
          <p:nvPr/>
        </p:nvSpPr>
        <p:spPr>
          <a:xfrm>
            <a:off x="7244187" y="5045751"/>
            <a:ext cx="2468880" cy="777240"/>
          </a:xfrm>
          <a:prstGeom prst="roundRect">
            <a:avLst/>
          </a:prstGeom>
          <a:solidFill>
            <a:srgbClr val="F4F8FC"/>
          </a:solidFill>
          <a:ln>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244187" y="5045751"/>
            <a:ext cx="2468880" cy="73152"/>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08779" y="5274351"/>
            <a:ext cx="2139696" cy="457200"/>
          </a:xfrm>
          <a:prstGeom prst="rect">
            <a:avLst/>
          </a:prstGeom>
          <a:noFill/>
        </p:spPr>
        <p:txBody>
          <a:bodyPr wrap="square" lIns="45720" rIns="45720">
            <a:spAutoFit/>
          </a:bodyPr>
          <a:lstStyle/>
          <a:p>
            <a:pPr algn="ctr">
              <a:defRPr sz="2400" b="1">
                <a:solidFill>
                  <a:srgbClr val="F59C00"/>
                </a:solidFill>
                <a:latin typeface="Aptos"/>
              </a:defRPr>
            </a:pPr>
            <a:r>
              <a:t>5,697</a:t>
            </a:r>
          </a:p>
        </p:txBody>
      </p:sp>
      <p:sp>
        <p:nvSpPr>
          <p:cNvPr id="32" name="TextBox 31"/>
          <p:cNvSpPr txBox="1"/>
          <p:nvPr/>
        </p:nvSpPr>
        <p:spPr>
          <a:xfrm>
            <a:off x="7408779" y="5828830"/>
            <a:ext cx="2139696" cy="320040"/>
          </a:xfrm>
          <a:prstGeom prst="rect">
            <a:avLst/>
          </a:prstGeom>
          <a:noFill/>
        </p:spPr>
        <p:txBody>
          <a:bodyPr wrap="square" lIns="45720" rIns="45720">
            <a:spAutoFit/>
          </a:bodyPr>
          <a:lstStyle/>
          <a:p>
            <a:pPr algn="ctr">
              <a:defRPr sz="1000" b="0">
                <a:solidFill>
                  <a:srgbClr val="5B6977"/>
                </a:solidFill>
                <a:latin typeface="Aptos"/>
              </a:defRPr>
            </a:pPr>
            <a:r>
              <a:rPr sz="1400" b="1">
                <a:solidFill>
                  <a:schemeClr val="tx1">
                    <a:lumMod val="95000"/>
                    <a:lumOff val="5000"/>
                  </a:schemeClr>
                </a:solidFill>
              </a:rPr>
              <a:t>Calinski–Harabasz</a:t>
            </a:r>
          </a:p>
        </p:txBody>
      </p:sp>
      <p:sp>
        <p:nvSpPr>
          <p:cNvPr id="34" name="TextBox 33"/>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PRACTICAL INTERPRETATION</a:t>
            </a:r>
          </a:p>
        </p:txBody>
      </p:sp>
      <p:sp>
        <p:nvSpPr>
          <p:cNvPr id="3" name="TextBox 2"/>
          <p:cNvSpPr txBox="1"/>
          <p:nvPr/>
        </p:nvSpPr>
        <p:spPr>
          <a:xfrm>
            <a:off x="566928" y="799623"/>
            <a:ext cx="5166799" cy="507831"/>
          </a:xfrm>
          <a:prstGeom prst="rect">
            <a:avLst/>
          </a:prstGeom>
          <a:noFill/>
        </p:spPr>
        <p:txBody>
          <a:bodyPr wrap="none">
            <a:spAutoFit/>
          </a:bodyPr>
          <a:lstStyle/>
          <a:p>
            <a:pPr>
              <a:defRPr sz="2700" b="1">
                <a:solidFill>
                  <a:srgbClr val="0D2A56"/>
                </a:solidFill>
                <a:latin typeface="Aptos"/>
              </a:defRPr>
            </a:pPr>
            <a:r>
              <a:rPr lang="en-US" dirty="0" smtClean="0"/>
              <a:t>What The Model Results Mean</a:t>
            </a:r>
            <a:endParaRPr lang="en-US" dirty="0"/>
          </a:p>
        </p:txBody>
      </p:sp>
      <p:sp>
        <p:nvSpPr>
          <p:cNvPr id="4" name="TextBox 3"/>
          <p:cNvSpPr txBox="1"/>
          <p:nvPr/>
        </p:nvSpPr>
        <p:spPr>
          <a:xfrm>
            <a:off x="566928" y="1278025"/>
            <a:ext cx="10789920" cy="320040"/>
          </a:xfrm>
          <a:prstGeom prst="rect">
            <a:avLst/>
          </a:prstGeom>
          <a:noFill/>
        </p:spPr>
        <p:txBody>
          <a:bodyPr wrap="none">
            <a:spAutoFit/>
          </a:bodyPr>
          <a:lstStyle/>
          <a:p>
            <a:pPr>
              <a:defRPr sz="1200">
                <a:solidFill>
                  <a:srgbClr val="5B6977"/>
                </a:solidFill>
                <a:latin typeface="Aptos"/>
              </a:defRPr>
            </a:pPr>
            <a:r>
              <a:t>Patterns, clusters, and possible exceptions</a:t>
            </a:r>
          </a:p>
        </p:txBody>
      </p:sp>
      <p:sp>
        <p:nvSpPr>
          <p:cNvPr id="5" name="Rectangle 4"/>
          <p:cNvSpPr/>
          <p:nvPr/>
        </p:nvSpPr>
        <p:spPr>
          <a:xfrm>
            <a:off x="566928" y="1652929"/>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09</a:t>
            </a:r>
          </a:p>
        </p:txBody>
      </p:sp>
      <p:sp>
        <p:nvSpPr>
          <p:cNvPr id="7" name="Rounded Rectangle 6"/>
          <p:cNvSpPr/>
          <p:nvPr/>
        </p:nvSpPr>
        <p:spPr>
          <a:xfrm>
            <a:off x="685800" y="1991257"/>
            <a:ext cx="3383280" cy="169164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991257"/>
            <a:ext cx="73152" cy="16916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128417"/>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Cluster 0–3</a:t>
            </a:r>
            <a:endParaRPr lang="en-SG" sz="2000" dirty="0"/>
          </a:p>
        </p:txBody>
      </p:sp>
      <p:sp>
        <p:nvSpPr>
          <p:cNvPr id="10" name="TextBox 9"/>
          <p:cNvSpPr txBox="1"/>
          <p:nvPr/>
        </p:nvSpPr>
        <p:spPr>
          <a:xfrm>
            <a:off x="758952" y="2494177"/>
            <a:ext cx="3310128" cy="1077218"/>
          </a:xfrm>
          <a:prstGeom prst="rect">
            <a:avLst/>
          </a:prstGeom>
          <a:noFill/>
        </p:spPr>
        <p:txBody>
          <a:bodyPr wrap="square" lIns="45720" rIns="45720">
            <a:spAutoFit/>
          </a:bodyPr>
          <a:lstStyle/>
          <a:p>
            <a:pPr algn="ctr">
              <a:defRPr sz="1000" b="0">
                <a:solidFill>
                  <a:srgbClr val="1F2B39"/>
                </a:solidFill>
                <a:latin typeface="Aptos"/>
              </a:defRPr>
            </a:pPr>
            <a:r>
              <a:rPr sz="1600"/>
              <a:t>Four shop behavioral groups were created from the model features. Each group can be compared by performance and utilization.</a:t>
            </a:r>
          </a:p>
        </p:txBody>
      </p:sp>
      <p:sp>
        <p:nvSpPr>
          <p:cNvPr id="11" name="Rounded Rectangle 10"/>
          <p:cNvSpPr/>
          <p:nvPr/>
        </p:nvSpPr>
        <p:spPr>
          <a:xfrm>
            <a:off x="4251960" y="1991257"/>
            <a:ext cx="3383280" cy="169164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1991257"/>
            <a:ext cx="73152" cy="169164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128" y="2128417"/>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PCA View</a:t>
            </a:r>
            <a:endParaRPr lang="en-SG" sz="2000" dirty="0"/>
          </a:p>
        </p:txBody>
      </p:sp>
      <p:sp>
        <p:nvSpPr>
          <p:cNvPr id="14" name="TextBox 13"/>
          <p:cNvSpPr txBox="1"/>
          <p:nvPr/>
        </p:nvSpPr>
        <p:spPr>
          <a:xfrm>
            <a:off x="4325112" y="2494177"/>
            <a:ext cx="3310128" cy="830997"/>
          </a:xfrm>
          <a:prstGeom prst="rect">
            <a:avLst/>
          </a:prstGeom>
          <a:noFill/>
        </p:spPr>
        <p:txBody>
          <a:bodyPr wrap="square" lIns="45720" rIns="45720">
            <a:spAutoFit/>
          </a:bodyPr>
          <a:lstStyle/>
          <a:p>
            <a:pPr algn="ctr">
              <a:defRPr sz="1000" b="0">
                <a:solidFill>
                  <a:srgbClr val="1F2B39"/>
                </a:solidFill>
                <a:latin typeface="Aptos"/>
              </a:defRPr>
            </a:pPr>
            <a:r>
              <a:rPr sz="1600"/>
              <a:t>The first two components separate shops by combined behavioral features and support visual review.</a:t>
            </a:r>
          </a:p>
        </p:txBody>
      </p:sp>
      <p:sp>
        <p:nvSpPr>
          <p:cNvPr id="15" name="Rounded Rectangle 14"/>
          <p:cNvSpPr/>
          <p:nvPr/>
        </p:nvSpPr>
        <p:spPr>
          <a:xfrm>
            <a:off x="7818120" y="1991257"/>
            <a:ext cx="3383280" cy="169164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1991257"/>
            <a:ext cx="73152" cy="169164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2128417"/>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Anomaly Profile</a:t>
            </a:r>
            <a:endParaRPr lang="en-SG" sz="2000" dirty="0"/>
          </a:p>
        </p:txBody>
      </p:sp>
      <p:sp>
        <p:nvSpPr>
          <p:cNvPr id="18" name="TextBox 17"/>
          <p:cNvSpPr txBox="1"/>
          <p:nvPr/>
        </p:nvSpPr>
        <p:spPr>
          <a:xfrm>
            <a:off x="7891272" y="2494177"/>
            <a:ext cx="3310128" cy="830997"/>
          </a:xfrm>
          <a:prstGeom prst="rect">
            <a:avLst/>
          </a:prstGeom>
          <a:noFill/>
        </p:spPr>
        <p:txBody>
          <a:bodyPr wrap="square" lIns="45720" rIns="45720">
            <a:spAutoFit/>
          </a:bodyPr>
          <a:lstStyle/>
          <a:p>
            <a:pPr algn="ctr">
              <a:defRPr sz="1000" b="0">
                <a:solidFill>
                  <a:srgbClr val="1F2B39"/>
                </a:solidFill>
                <a:latin typeface="Aptos"/>
              </a:defRPr>
            </a:pPr>
            <a:r>
              <a:rPr sz="1600"/>
              <a:t>DBSCAN labels sparse shop profiles as potential outliers for human investigation.</a:t>
            </a:r>
          </a:p>
        </p:txBody>
      </p:sp>
      <p:sp>
        <p:nvSpPr>
          <p:cNvPr id="19" name="TextBox 18"/>
          <p:cNvSpPr txBox="1"/>
          <p:nvPr/>
        </p:nvSpPr>
        <p:spPr>
          <a:xfrm>
            <a:off x="704088" y="4078513"/>
            <a:ext cx="10515600" cy="400110"/>
          </a:xfrm>
          <a:prstGeom prst="rect">
            <a:avLst/>
          </a:prstGeom>
          <a:noFill/>
        </p:spPr>
        <p:txBody>
          <a:bodyPr wrap="square" lIns="45720" rIns="45720">
            <a:spAutoFit/>
          </a:bodyPr>
          <a:lstStyle/>
          <a:p>
            <a:pPr algn="l">
              <a:defRPr sz="1600" b="1">
                <a:solidFill>
                  <a:srgbClr val="0D2A56"/>
                </a:solidFill>
                <a:latin typeface="Aptos"/>
              </a:defRPr>
            </a:pPr>
            <a:r>
              <a:rPr lang="en-SG" sz="2000" dirty="0" smtClean="0"/>
              <a:t>WHAT THE RESULTS SUPPORT</a:t>
            </a:r>
            <a:endParaRPr lang="en-SG" sz="2000" dirty="0"/>
          </a:p>
        </p:txBody>
      </p:sp>
      <p:sp>
        <p:nvSpPr>
          <p:cNvPr id="20" name="TextBox 19"/>
          <p:cNvSpPr txBox="1"/>
          <p:nvPr/>
        </p:nvSpPr>
        <p:spPr>
          <a:xfrm>
            <a:off x="685800" y="4517425"/>
            <a:ext cx="10179996" cy="1204945"/>
          </a:xfrm>
          <a:prstGeom prst="rect">
            <a:avLst/>
          </a:prstGeom>
          <a:noFill/>
        </p:spPr>
        <p:txBody>
          <a:bodyPr wrap="square" lIns="73152" tIns="36576" rIns="73152" bIns="36576">
            <a:spAutoFit/>
          </a:bodyPr>
          <a:lstStyle/>
          <a:p>
            <a:pPr>
              <a:spcAft>
                <a:spcPts val="700"/>
              </a:spcAft>
              <a:defRPr sz="1300">
                <a:solidFill>
                  <a:srgbClr val="1F2B39"/>
                </a:solidFill>
                <a:latin typeface="Aptos"/>
              </a:defRPr>
            </a:pPr>
            <a:r>
              <a:rPr sz="1400" dirty="0"/>
              <a:t>•  Compare high- and low-volume shops.</a:t>
            </a:r>
          </a:p>
          <a:p>
            <a:pPr>
              <a:spcAft>
                <a:spcPts val="700"/>
              </a:spcAft>
              <a:defRPr sz="1300">
                <a:solidFill>
                  <a:srgbClr val="1F2B39"/>
                </a:solidFill>
                <a:latin typeface="Aptos"/>
              </a:defRPr>
            </a:pPr>
            <a:r>
              <a:rPr sz="1400" dirty="0"/>
              <a:t>•  Review shops with high or unusual portability.</a:t>
            </a:r>
          </a:p>
          <a:p>
            <a:pPr>
              <a:spcAft>
                <a:spcPts val="700"/>
              </a:spcAft>
              <a:defRPr sz="1300">
                <a:solidFill>
                  <a:srgbClr val="1F2B39"/>
                </a:solidFill>
                <a:latin typeface="Aptos"/>
              </a:defRPr>
            </a:pPr>
            <a:r>
              <a:rPr sz="1400" dirty="0"/>
              <a:t>•  Investigate shops whose feature patterns differ from their cluster.</a:t>
            </a:r>
          </a:p>
          <a:p>
            <a:pPr>
              <a:spcAft>
                <a:spcPts val="700"/>
              </a:spcAft>
              <a:defRPr sz="1300">
                <a:solidFill>
                  <a:srgbClr val="1F2B39"/>
                </a:solidFill>
                <a:latin typeface="Aptos"/>
              </a:defRPr>
            </a:pPr>
            <a:r>
              <a:rPr sz="1400" dirty="0"/>
              <a:t>•  Improve cluster descriptors with domain knowledge and business rules.</a:t>
            </a:r>
          </a:p>
        </p:txBody>
      </p:sp>
      <p:sp>
        <p:nvSpPr>
          <p:cNvPr id="22" name="TextBox 2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DATA-DRIVEN INSIGHT</a:t>
            </a:r>
          </a:p>
        </p:txBody>
      </p:sp>
      <p:sp>
        <p:nvSpPr>
          <p:cNvPr id="3" name="TextBox 2"/>
          <p:cNvSpPr txBox="1"/>
          <p:nvPr/>
        </p:nvSpPr>
        <p:spPr>
          <a:xfrm>
            <a:off x="566928" y="682885"/>
            <a:ext cx="5288627" cy="507831"/>
          </a:xfrm>
          <a:prstGeom prst="rect">
            <a:avLst/>
          </a:prstGeom>
          <a:noFill/>
        </p:spPr>
        <p:txBody>
          <a:bodyPr wrap="none">
            <a:spAutoFit/>
          </a:bodyPr>
          <a:lstStyle/>
          <a:p>
            <a:pPr>
              <a:defRPr sz="2700" b="1">
                <a:solidFill>
                  <a:srgbClr val="0D2A56"/>
                </a:solidFill>
                <a:latin typeface="Aptos"/>
              </a:defRPr>
            </a:pPr>
            <a:r>
              <a:rPr lang="en-SG" dirty="0" smtClean="0"/>
              <a:t>Key Findings And Conclusions</a:t>
            </a:r>
            <a:endParaRPr lang="en-SG" dirty="0"/>
          </a:p>
        </p:txBody>
      </p:sp>
      <p:sp>
        <p:nvSpPr>
          <p:cNvPr id="4" name="TextBox 3"/>
          <p:cNvSpPr txBox="1"/>
          <p:nvPr/>
        </p:nvSpPr>
        <p:spPr>
          <a:xfrm>
            <a:off x="566928" y="1112653"/>
            <a:ext cx="10789920" cy="320040"/>
          </a:xfrm>
          <a:prstGeom prst="rect">
            <a:avLst/>
          </a:prstGeom>
          <a:noFill/>
        </p:spPr>
        <p:txBody>
          <a:bodyPr wrap="none">
            <a:spAutoFit/>
          </a:bodyPr>
          <a:lstStyle/>
          <a:p>
            <a:pPr>
              <a:defRPr sz="1200">
                <a:solidFill>
                  <a:srgbClr val="5B6977"/>
                </a:solidFill>
                <a:latin typeface="Aptos"/>
              </a:defRPr>
            </a:pPr>
            <a:r>
              <a:t>Evidence → meaning → possible action</a:t>
            </a:r>
          </a:p>
        </p:txBody>
      </p:sp>
      <p:sp>
        <p:nvSpPr>
          <p:cNvPr id="5" name="Rectangle 4"/>
          <p:cNvSpPr/>
          <p:nvPr/>
        </p:nvSpPr>
        <p:spPr>
          <a:xfrm>
            <a:off x="566928" y="1487557"/>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10</a:t>
            </a:r>
          </a:p>
        </p:txBody>
      </p:sp>
      <p:sp>
        <p:nvSpPr>
          <p:cNvPr id="7" name="Rounded Rectangle 6"/>
          <p:cNvSpPr/>
          <p:nvPr/>
        </p:nvSpPr>
        <p:spPr>
          <a:xfrm>
            <a:off x="685800" y="2000985"/>
            <a:ext cx="3383280"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2000985"/>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138145"/>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Regional Concentration</a:t>
            </a:r>
            <a:endParaRPr lang="en-SG" sz="2000" dirty="0"/>
          </a:p>
        </p:txBody>
      </p:sp>
      <p:sp>
        <p:nvSpPr>
          <p:cNvPr id="10" name="TextBox 9"/>
          <p:cNvSpPr txBox="1"/>
          <p:nvPr/>
        </p:nvSpPr>
        <p:spPr>
          <a:xfrm>
            <a:off x="758952" y="2581729"/>
            <a:ext cx="3310128" cy="1077218"/>
          </a:xfrm>
          <a:prstGeom prst="rect">
            <a:avLst/>
          </a:prstGeom>
          <a:noFill/>
        </p:spPr>
        <p:txBody>
          <a:bodyPr wrap="square" lIns="45720" rIns="45720">
            <a:spAutoFit/>
          </a:bodyPr>
          <a:lstStyle/>
          <a:p>
            <a:pPr algn="ctr">
              <a:defRPr sz="1000" b="0">
                <a:solidFill>
                  <a:srgbClr val="1F2B39"/>
                </a:solidFill>
                <a:latin typeface="Aptos"/>
              </a:defRPr>
            </a:pPr>
            <a:r>
              <a:rPr sz="1600"/>
              <a:t>Transactions can be summarized by district and month, revealing where activity is strongest and where patterns vary.</a:t>
            </a:r>
          </a:p>
        </p:txBody>
      </p:sp>
      <p:sp>
        <p:nvSpPr>
          <p:cNvPr id="11" name="Rounded Rectangle 10"/>
          <p:cNvSpPr/>
          <p:nvPr/>
        </p:nvSpPr>
        <p:spPr>
          <a:xfrm>
            <a:off x="4251960" y="2000985"/>
            <a:ext cx="3383280"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51960" y="2000985"/>
            <a:ext cx="73152" cy="182880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53128" y="2138145"/>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Behavioural Differences</a:t>
            </a:r>
            <a:endParaRPr lang="en-SG" sz="2000" dirty="0"/>
          </a:p>
        </p:txBody>
      </p:sp>
      <p:sp>
        <p:nvSpPr>
          <p:cNvPr id="14" name="TextBox 13"/>
          <p:cNvSpPr txBox="1"/>
          <p:nvPr/>
        </p:nvSpPr>
        <p:spPr>
          <a:xfrm>
            <a:off x="4325112" y="2581729"/>
            <a:ext cx="3310128" cy="830997"/>
          </a:xfrm>
          <a:prstGeom prst="rect">
            <a:avLst/>
          </a:prstGeom>
          <a:noFill/>
        </p:spPr>
        <p:txBody>
          <a:bodyPr wrap="square" lIns="45720" rIns="45720">
            <a:spAutoFit/>
          </a:bodyPr>
          <a:lstStyle/>
          <a:p>
            <a:pPr algn="ctr">
              <a:defRPr sz="1000" b="0">
                <a:solidFill>
                  <a:srgbClr val="1F2B39"/>
                </a:solidFill>
                <a:latin typeface="Aptos"/>
              </a:defRPr>
            </a:pPr>
            <a:r>
              <a:rPr sz="1600"/>
              <a:t>Shop profiles vary in transaction volume, utilization, portability, and commodity mix.</a:t>
            </a:r>
          </a:p>
        </p:txBody>
      </p:sp>
      <p:sp>
        <p:nvSpPr>
          <p:cNvPr id="15" name="Rounded Rectangle 14"/>
          <p:cNvSpPr/>
          <p:nvPr/>
        </p:nvSpPr>
        <p:spPr>
          <a:xfrm>
            <a:off x="7818120" y="2000985"/>
            <a:ext cx="3383280"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18120" y="2000985"/>
            <a:ext cx="73152" cy="182880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19288" y="2138145"/>
            <a:ext cx="306324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Unusual Profiles</a:t>
            </a:r>
            <a:endParaRPr lang="en-SG" sz="2000" dirty="0"/>
          </a:p>
        </p:txBody>
      </p:sp>
      <p:sp>
        <p:nvSpPr>
          <p:cNvPr id="18" name="TextBox 17"/>
          <p:cNvSpPr txBox="1"/>
          <p:nvPr/>
        </p:nvSpPr>
        <p:spPr>
          <a:xfrm>
            <a:off x="7891272" y="2581729"/>
            <a:ext cx="3310128" cy="830997"/>
          </a:xfrm>
          <a:prstGeom prst="rect">
            <a:avLst/>
          </a:prstGeom>
          <a:noFill/>
        </p:spPr>
        <p:txBody>
          <a:bodyPr wrap="square" lIns="45720" rIns="45720">
            <a:spAutoFit/>
          </a:bodyPr>
          <a:lstStyle/>
          <a:p>
            <a:pPr algn="ctr">
              <a:defRPr sz="1000" b="0">
                <a:solidFill>
                  <a:srgbClr val="1F2B39"/>
                </a:solidFill>
                <a:latin typeface="Aptos"/>
              </a:defRPr>
            </a:pPr>
            <a:r>
              <a:rPr sz="1600"/>
              <a:t>Low-density shop profiles can be flagged for review rather than treated as confirmed issues.</a:t>
            </a:r>
          </a:p>
        </p:txBody>
      </p:sp>
      <p:sp>
        <p:nvSpPr>
          <p:cNvPr id="19" name="TextBox 18"/>
          <p:cNvSpPr txBox="1"/>
          <p:nvPr/>
        </p:nvSpPr>
        <p:spPr>
          <a:xfrm>
            <a:off x="685800" y="4286985"/>
            <a:ext cx="10515600" cy="430887"/>
          </a:xfrm>
          <a:prstGeom prst="rect">
            <a:avLst/>
          </a:prstGeom>
          <a:noFill/>
        </p:spPr>
        <p:txBody>
          <a:bodyPr wrap="square" lIns="45720" rIns="45720">
            <a:spAutoFit/>
          </a:bodyPr>
          <a:lstStyle/>
          <a:p>
            <a:pPr algn="l">
              <a:defRPr sz="1600" b="1">
                <a:solidFill>
                  <a:srgbClr val="0D2A56"/>
                </a:solidFill>
                <a:latin typeface="Aptos"/>
              </a:defRPr>
            </a:pPr>
            <a:r>
              <a:rPr lang="en-SG" sz="2200" dirty="0" smtClean="0"/>
              <a:t>POSSIBLE ACTIONS</a:t>
            </a:r>
            <a:endParaRPr lang="en-SG" sz="2200" dirty="0"/>
          </a:p>
        </p:txBody>
      </p:sp>
      <p:sp>
        <p:nvSpPr>
          <p:cNvPr id="20" name="TextBox 19"/>
          <p:cNvSpPr txBox="1"/>
          <p:nvPr/>
        </p:nvSpPr>
        <p:spPr>
          <a:xfrm>
            <a:off x="685800" y="4744185"/>
            <a:ext cx="9372600" cy="1130566"/>
          </a:xfrm>
          <a:prstGeom prst="rect">
            <a:avLst/>
          </a:prstGeom>
          <a:noFill/>
        </p:spPr>
        <p:txBody>
          <a:bodyPr wrap="square" lIns="73152" tIns="36576" rIns="73152" bIns="36576">
            <a:spAutoFit/>
          </a:bodyPr>
          <a:lstStyle/>
          <a:p>
            <a:pPr>
              <a:spcAft>
                <a:spcPts val="700"/>
              </a:spcAft>
              <a:defRPr sz="1300">
                <a:solidFill>
                  <a:srgbClr val="1F2B39"/>
                </a:solidFill>
                <a:latin typeface="Aptos"/>
              </a:defRPr>
            </a:pPr>
            <a:r>
              <a:rPr sz="1900" dirty="0"/>
              <a:t>•  Prioritize district-level review where activity is high or changing.</a:t>
            </a:r>
          </a:p>
          <a:p>
            <a:pPr>
              <a:spcAft>
                <a:spcPts val="700"/>
              </a:spcAft>
              <a:defRPr sz="1300">
                <a:solidFill>
                  <a:srgbClr val="1F2B39"/>
                </a:solidFill>
                <a:latin typeface="Aptos"/>
              </a:defRPr>
            </a:pPr>
            <a:r>
              <a:rPr sz="1900" dirty="0"/>
              <a:t>•  Investigate flagged shops using supplemental operational records.</a:t>
            </a:r>
          </a:p>
          <a:p>
            <a:pPr>
              <a:spcAft>
                <a:spcPts val="700"/>
              </a:spcAft>
              <a:defRPr sz="1300">
                <a:solidFill>
                  <a:srgbClr val="1F2B39"/>
                </a:solidFill>
                <a:latin typeface="Aptos"/>
              </a:defRPr>
            </a:pPr>
            <a:r>
              <a:rPr sz="1900" dirty="0"/>
              <a:t>•  Compare cluster characteristics with policy and business thresholds.</a:t>
            </a:r>
          </a:p>
        </p:txBody>
      </p:sp>
      <p:sp>
        <p:nvSpPr>
          <p:cNvPr id="22" name="TextBox 2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OBSERVED GAP</a:t>
            </a:r>
          </a:p>
        </p:txBody>
      </p:sp>
      <p:sp>
        <p:nvSpPr>
          <p:cNvPr id="3" name="TextBox 2"/>
          <p:cNvSpPr txBox="1"/>
          <p:nvPr/>
        </p:nvSpPr>
        <p:spPr>
          <a:xfrm>
            <a:off x="525077" y="437914"/>
            <a:ext cx="5731056" cy="507831"/>
          </a:xfrm>
          <a:prstGeom prst="rect">
            <a:avLst/>
          </a:prstGeom>
          <a:noFill/>
        </p:spPr>
        <p:txBody>
          <a:bodyPr wrap="none">
            <a:spAutoFit/>
          </a:bodyPr>
          <a:lstStyle/>
          <a:p>
            <a:pPr>
              <a:defRPr sz="2700" b="1">
                <a:solidFill>
                  <a:srgbClr val="0D2A56"/>
                </a:solidFill>
                <a:latin typeface="Aptos"/>
              </a:defRPr>
            </a:pPr>
            <a:r>
              <a:rPr lang="en-US" dirty="0" smtClean="0"/>
              <a:t>The Gap In The Current Approach</a:t>
            </a:r>
            <a:endParaRPr lang="en-US" dirty="0"/>
          </a:p>
        </p:txBody>
      </p:sp>
      <p:sp>
        <p:nvSpPr>
          <p:cNvPr id="4" name="TextBox 3"/>
          <p:cNvSpPr txBox="1"/>
          <p:nvPr/>
        </p:nvSpPr>
        <p:spPr>
          <a:xfrm>
            <a:off x="566928" y="879478"/>
            <a:ext cx="10789920" cy="320040"/>
          </a:xfrm>
          <a:prstGeom prst="rect">
            <a:avLst/>
          </a:prstGeom>
          <a:noFill/>
        </p:spPr>
        <p:txBody>
          <a:bodyPr wrap="none">
            <a:spAutoFit/>
          </a:bodyPr>
          <a:lstStyle/>
          <a:p>
            <a:pPr>
              <a:defRPr sz="1200">
                <a:solidFill>
                  <a:srgbClr val="5B6977"/>
                </a:solidFill>
                <a:latin typeface="Aptos"/>
              </a:defRPr>
            </a:pPr>
            <a:r>
              <a:rPr dirty="0"/>
              <a:t>What exists versus what decision-makers need</a:t>
            </a:r>
          </a:p>
        </p:txBody>
      </p:sp>
      <p:sp>
        <p:nvSpPr>
          <p:cNvPr id="5" name="Rectangle 4"/>
          <p:cNvSpPr/>
          <p:nvPr/>
        </p:nvSpPr>
        <p:spPr>
          <a:xfrm>
            <a:off x="566928" y="1166544"/>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11</a:t>
            </a:r>
          </a:p>
        </p:txBody>
      </p:sp>
      <p:sp>
        <p:nvSpPr>
          <p:cNvPr id="7" name="Rounded Rectangle 6"/>
          <p:cNvSpPr/>
          <p:nvPr/>
        </p:nvSpPr>
        <p:spPr>
          <a:xfrm>
            <a:off x="685800" y="1679975"/>
            <a:ext cx="3526277"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79975"/>
            <a:ext cx="68610"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3579" y="1817135"/>
            <a:ext cx="406908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Complex Raw Data</a:t>
            </a:r>
            <a:endParaRPr lang="en-SG" sz="2000" dirty="0"/>
          </a:p>
        </p:txBody>
      </p:sp>
      <p:sp>
        <p:nvSpPr>
          <p:cNvPr id="10" name="TextBox 9"/>
          <p:cNvSpPr txBox="1"/>
          <p:nvPr/>
        </p:nvSpPr>
        <p:spPr>
          <a:xfrm>
            <a:off x="838328" y="2270447"/>
            <a:ext cx="3259307" cy="830997"/>
          </a:xfrm>
          <a:prstGeom prst="rect">
            <a:avLst/>
          </a:prstGeom>
          <a:noFill/>
        </p:spPr>
        <p:txBody>
          <a:bodyPr wrap="square" lIns="45720" rIns="45720">
            <a:spAutoFit/>
          </a:bodyPr>
          <a:lstStyle/>
          <a:p>
            <a:pPr algn="ctr">
              <a:defRPr sz="1000" b="0">
                <a:solidFill>
                  <a:srgbClr val="1F2B39"/>
                </a:solidFill>
                <a:latin typeface="Aptos"/>
              </a:defRPr>
            </a:pPr>
            <a:r>
              <a:rPr sz="1600" dirty="0"/>
              <a:t>Large, mixed, and distributed source tables require ingestion, validation, and integration.</a:t>
            </a:r>
          </a:p>
        </p:txBody>
      </p:sp>
      <p:sp>
        <p:nvSpPr>
          <p:cNvPr id="11" name="Rounded Rectangle 10"/>
          <p:cNvSpPr/>
          <p:nvPr/>
        </p:nvSpPr>
        <p:spPr>
          <a:xfrm>
            <a:off x="4512659" y="1679975"/>
            <a:ext cx="3541844"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12658" y="1679975"/>
            <a:ext cx="68519" cy="182880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26079" y="1817135"/>
            <a:ext cx="406908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Manual Review Limits</a:t>
            </a:r>
            <a:endParaRPr lang="en-SG" sz="2000" dirty="0"/>
          </a:p>
        </p:txBody>
      </p:sp>
      <p:sp>
        <p:nvSpPr>
          <p:cNvPr id="14" name="TextBox 13"/>
          <p:cNvSpPr txBox="1"/>
          <p:nvPr/>
        </p:nvSpPr>
        <p:spPr>
          <a:xfrm>
            <a:off x="4605690" y="2270447"/>
            <a:ext cx="3336304" cy="830997"/>
          </a:xfrm>
          <a:prstGeom prst="rect">
            <a:avLst/>
          </a:prstGeom>
          <a:noFill/>
        </p:spPr>
        <p:txBody>
          <a:bodyPr wrap="square" lIns="45720" rIns="45720">
            <a:spAutoFit/>
          </a:bodyPr>
          <a:lstStyle/>
          <a:p>
            <a:pPr algn="ctr">
              <a:defRPr sz="1000" b="0">
                <a:solidFill>
                  <a:srgbClr val="1F2B39"/>
                </a:solidFill>
                <a:latin typeface="Aptos"/>
              </a:defRPr>
            </a:pPr>
            <a:r>
              <a:rPr sz="1600" dirty="0"/>
              <a:t>People may struggle to examine thousands of shops, months, and indicators persistently.</a:t>
            </a:r>
          </a:p>
        </p:txBody>
      </p:sp>
      <p:sp>
        <p:nvSpPr>
          <p:cNvPr id="15" name="Rounded Rectangle 14"/>
          <p:cNvSpPr/>
          <p:nvPr/>
        </p:nvSpPr>
        <p:spPr>
          <a:xfrm>
            <a:off x="8430168" y="1679975"/>
            <a:ext cx="3182712"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57016" y="1679975"/>
            <a:ext cx="82394" cy="182880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26679" y="1810901"/>
            <a:ext cx="2625738"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No Single View</a:t>
            </a:r>
            <a:endParaRPr lang="en-SG" sz="2000" dirty="0"/>
          </a:p>
        </p:txBody>
      </p:sp>
      <p:sp>
        <p:nvSpPr>
          <p:cNvPr id="18" name="TextBox 17"/>
          <p:cNvSpPr txBox="1"/>
          <p:nvPr/>
        </p:nvSpPr>
        <p:spPr>
          <a:xfrm>
            <a:off x="8463922" y="2270447"/>
            <a:ext cx="3027166" cy="830997"/>
          </a:xfrm>
          <a:prstGeom prst="rect">
            <a:avLst/>
          </a:prstGeom>
          <a:noFill/>
        </p:spPr>
        <p:txBody>
          <a:bodyPr wrap="square" lIns="45720" rIns="45720">
            <a:spAutoFit/>
          </a:bodyPr>
          <a:lstStyle/>
          <a:p>
            <a:pPr algn="ctr">
              <a:defRPr sz="1000" b="0">
                <a:solidFill>
                  <a:srgbClr val="1F2B39"/>
                </a:solidFill>
                <a:latin typeface="Aptos"/>
              </a:defRPr>
            </a:pPr>
            <a:r>
              <a:rPr sz="1600" dirty="0"/>
              <a:t>Current reports may not connect shop behavior, district context, and anomaly signals.</a:t>
            </a:r>
          </a:p>
        </p:txBody>
      </p:sp>
      <p:sp>
        <p:nvSpPr>
          <p:cNvPr id="19" name="Rounded Rectangle 18"/>
          <p:cNvSpPr/>
          <p:nvPr/>
        </p:nvSpPr>
        <p:spPr>
          <a:xfrm>
            <a:off x="685800" y="3920255"/>
            <a:ext cx="3526277" cy="16002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920255"/>
            <a:ext cx="68610" cy="1600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585" y="4057415"/>
            <a:ext cx="406908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Pattern Without Context</a:t>
            </a:r>
            <a:endParaRPr lang="en-SG" sz="2000" dirty="0"/>
          </a:p>
        </p:txBody>
      </p:sp>
      <p:sp>
        <p:nvSpPr>
          <p:cNvPr id="22" name="TextBox 21"/>
          <p:cNvSpPr txBox="1"/>
          <p:nvPr/>
        </p:nvSpPr>
        <p:spPr>
          <a:xfrm>
            <a:off x="886968" y="4500999"/>
            <a:ext cx="3317147" cy="830997"/>
          </a:xfrm>
          <a:prstGeom prst="rect">
            <a:avLst/>
          </a:prstGeom>
          <a:noFill/>
        </p:spPr>
        <p:txBody>
          <a:bodyPr wrap="square" lIns="45720" rIns="45720">
            <a:spAutoFit/>
          </a:bodyPr>
          <a:lstStyle/>
          <a:p>
            <a:pPr algn="ctr">
              <a:defRPr sz="1000" b="0">
                <a:solidFill>
                  <a:srgbClr val="1F2B39"/>
                </a:solidFill>
                <a:latin typeface="Aptos"/>
              </a:defRPr>
            </a:pPr>
            <a:r>
              <a:rPr sz="1600" dirty="0"/>
              <a:t>A model score alone does not explain why a shop is unusual or whether an issue is operational.</a:t>
            </a:r>
          </a:p>
        </p:txBody>
      </p:sp>
      <p:sp>
        <p:nvSpPr>
          <p:cNvPr id="23" name="Rounded Rectangle 22"/>
          <p:cNvSpPr/>
          <p:nvPr/>
        </p:nvSpPr>
        <p:spPr>
          <a:xfrm>
            <a:off x="4512659" y="3920255"/>
            <a:ext cx="3541844" cy="16002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512658" y="3920255"/>
            <a:ext cx="68519" cy="1600200"/>
          </a:xfrm>
          <a:prstGeom prst="rect">
            <a:avLst/>
          </a:prstGeom>
          <a:solidFill>
            <a:srgbClr val="D3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63621" y="4057415"/>
            <a:ext cx="406908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Limited Application Data</a:t>
            </a:r>
            <a:endParaRPr lang="en-SG" sz="2000" dirty="0"/>
          </a:p>
        </p:txBody>
      </p:sp>
      <p:sp>
        <p:nvSpPr>
          <p:cNvPr id="26" name="TextBox 25"/>
          <p:cNvSpPr txBox="1"/>
          <p:nvPr/>
        </p:nvSpPr>
        <p:spPr>
          <a:xfrm>
            <a:off x="4654330" y="4500999"/>
            <a:ext cx="3404376" cy="830997"/>
          </a:xfrm>
          <a:prstGeom prst="rect">
            <a:avLst/>
          </a:prstGeom>
          <a:noFill/>
        </p:spPr>
        <p:txBody>
          <a:bodyPr wrap="square" lIns="45720" rIns="45720">
            <a:spAutoFit/>
          </a:bodyPr>
          <a:lstStyle/>
          <a:p>
            <a:pPr algn="ctr">
              <a:defRPr sz="1000" b="0">
                <a:solidFill>
                  <a:srgbClr val="1F2B39"/>
                </a:solidFill>
                <a:latin typeface="Aptos"/>
              </a:defRPr>
            </a:pPr>
            <a:r>
              <a:rPr sz="1600" dirty="0"/>
              <a:t>The current dashboard fallback uses synthetic 500-row data and must be connected to real results.</a:t>
            </a:r>
          </a:p>
        </p:txBody>
      </p:sp>
      <p:sp>
        <p:nvSpPr>
          <p:cNvPr id="27" name="Rounded Rectangle 26"/>
          <p:cNvSpPr/>
          <p:nvPr/>
        </p:nvSpPr>
        <p:spPr>
          <a:xfrm>
            <a:off x="8430168" y="3920255"/>
            <a:ext cx="3182712" cy="16002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57016" y="3920255"/>
            <a:ext cx="82394" cy="160020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640425" y="4057415"/>
            <a:ext cx="2625738"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Production Controls</a:t>
            </a:r>
            <a:endParaRPr lang="en-SG" sz="2000" dirty="0"/>
          </a:p>
        </p:txBody>
      </p:sp>
      <p:sp>
        <p:nvSpPr>
          <p:cNvPr id="30" name="TextBox 29"/>
          <p:cNvSpPr txBox="1"/>
          <p:nvPr/>
        </p:nvSpPr>
        <p:spPr>
          <a:xfrm>
            <a:off x="8400499" y="4577836"/>
            <a:ext cx="3224229" cy="830997"/>
          </a:xfrm>
          <a:prstGeom prst="rect">
            <a:avLst/>
          </a:prstGeom>
          <a:noFill/>
        </p:spPr>
        <p:txBody>
          <a:bodyPr wrap="square" lIns="45720" rIns="45720">
            <a:spAutoFit/>
          </a:bodyPr>
          <a:lstStyle/>
          <a:p>
            <a:pPr algn="ctr">
              <a:defRPr sz="1000" b="0">
                <a:solidFill>
                  <a:srgbClr val="1F2B39"/>
                </a:solidFill>
                <a:latin typeface="Aptos"/>
              </a:defRPr>
            </a:pPr>
            <a:r>
              <a:rPr sz="1600" dirty="0"/>
              <a:t>Monitoring, access, retention, and alert ownership are not yet defined.</a:t>
            </a:r>
          </a:p>
        </p:txBody>
      </p:sp>
      <p:sp>
        <p:nvSpPr>
          <p:cNvPr id="31" name="TextBox 30"/>
          <p:cNvSpPr txBox="1"/>
          <p:nvPr/>
        </p:nvSpPr>
        <p:spPr>
          <a:xfrm>
            <a:off x="685800" y="5885235"/>
            <a:ext cx="10881360" cy="274320"/>
          </a:xfrm>
          <a:prstGeom prst="rect">
            <a:avLst/>
          </a:prstGeom>
          <a:noFill/>
        </p:spPr>
        <p:txBody>
          <a:bodyPr wrap="square" lIns="45720" rIns="45720">
            <a:spAutoFit/>
          </a:bodyPr>
          <a:lstStyle/>
          <a:p>
            <a:pPr algn="l">
              <a:defRPr sz="1300" b="1">
                <a:solidFill>
                  <a:srgbClr val="0D2A56"/>
                </a:solidFill>
                <a:latin typeface="Aptos"/>
              </a:defRPr>
            </a:pPr>
            <a:r>
              <a:t>Observed gap: analysis can be built, but a governed, real-data, production-ready decision workflow is still incomplete.</a:t>
            </a:r>
          </a:p>
        </p:txBody>
      </p:sp>
      <p:sp>
        <p:nvSpPr>
          <p:cNvPr id="32" name="TextBox 3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17308"/>
            <a:ext cx="6217920" cy="256032"/>
          </a:xfrm>
          <a:prstGeom prst="rect">
            <a:avLst/>
          </a:prstGeom>
          <a:noFill/>
        </p:spPr>
        <p:txBody>
          <a:bodyPr wrap="none">
            <a:spAutoFit/>
          </a:bodyPr>
          <a:lstStyle/>
          <a:p>
            <a:pPr>
              <a:defRPr sz="900" b="1">
                <a:solidFill>
                  <a:srgbClr val="0078D4"/>
                </a:solidFill>
                <a:latin typeface="Aptos"/>
              </a:defRPr>
            </a:pPr>
            <a:r>
              <a:t>SOLUTION PATH</a:t>
            </a:r>
          </a:p>
        </p:txBody>
      </p:sp>
      <p:sp>
        <p:nvSpPr>
          <p:cNvPr id="3" name="TextBox 2"/>
          <p:cNvSpPr txBox="1"/>
          <p:nvPr/>
        </p:nvSpPr>
        <p:spPr>
          <a:xfrm>
            <a:off x="566928" y="546690"/>
            <a:ext cx="3929217" cy="507831"/>
          </a:xfrm>
          <a:prstGeom prst="rect">
            <a:avLst/>
          </a:prstGeom>
          <a:noFill/>
        </p:spPr>
        <p:txBody>
          <a:bodyPr wrap="none">
            <a:spAutoFit/>
          </a:bodyPr>
          <a:lstStyle/>
          <a:p>
            <a:pPr>
              <a:defRPr sz="2700" b="1">
                <a:solidFill>
                  <a:srgbClr val="0D2A56"/>
                </a:solidFill>
                <a:latin typeface="Aptos"/>
              </a:defRPr>
            </a:pPr>
            <a:r>
              <a:rPr lang="en-SG" dirty="0" smtClean="0"/>
              <a:t>From Data To Decision</a:t>
            </a:r>
            <a:endParaRPr lang="en-SG" dirty="0"/>
          </a:p>
        </p:txBody>
      </p:sp>
      <p:sp>
        <p:nvSpPr>
          <p:cNvPr id="4" name="TextBox 3"/>
          <p:cNvSpPr txBox="1"/>
          <p:nvPr/>
        </p:nvSpPr>
        <p:spPr>
          <a:xfrm>
            <a:off x="566928" y="976458"/>
            <a:ext cx="10789920" cy="320040"/>
          </a:xfrm>
          <a:prstGeom prst="rect">
            <a:avLst/>
          </a:prstGeom>
          <a:noFill/>
        </p:spPr>
        <p:txBody>
          <a:bodyPr wrap="none">
            <a:spAutoFit/>
          </a:bodyPr>
          <a:lstStyle/>
          <a:p>
            <a:pPr>
              <a:defRPr sz="1200">
                <a:solidFill>
                  <a:srgbClr val="5B6977"/>
                </a:solidFill>
                <a:latin typeface="Aptos"/>
              </a:defRPr>
            </a:pPr>
            <a:r>
              <a:t>How the project closes the gap</a:t>
            </a:r>
          </a:p>
        </p:txBody>
      </p:sp>
      <p:sp>
        <p:nvSpPr>
          <p:cNvPr id="5" name="Rectangle 4"/>
          <p:cNvSpPr/>
          <p:nvPr/>
        </p:nvSpPr>
        <p:spPr>
          <a:xfrm>
            <a:off x="566928" y="1302729"/>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12</a:t>
            </a:r>
          </a:p>
        </p:txBody>
      </p:sp>
      <p:sp>
        <p:nvSpPr>
          <p:cNvPr id="7" name="TextBox 6"/>
          <p:cNvSpPr txBox="1"/>
          <p:nvPr/>
        </p:nvSpPr>
        <p:spPr>
          <a:xfrm>
            <a:off x="685800" y="1679974"/>
            <a:ext cx="2514600" cy="830997"/>
          </a:xfrm>
          <a:prstGeom prst="rect">
            <a:avLst/>
          </a:prstGeom>
          <a:noFill/>
        </p:spPr>
        <p:txBody>
          <a:bodyPr wrap="square" lIns="45720" rIns="45720">
            <a:spAutoFit/>
          </a:bodyPr>
          <a:lstStyle/>
          <a:p>
            <a:pPr algn="l">
              <a:defRPr sz="1100" b="1">
                <a:solidFill>
                  <a:srgbClr val="D34545"/>
                </a:solidFill>
                <a:latin typeface="Aptos"/>
              </a:defRPr>
            </a:pPr>
            <a:r>
              <a:rPr sz="2400"/>
              <a:t>Large raw datasets</a:t>
            </a:r>
          </a:p>
        </p:txBody>
      </p:sp>
      <p:sp>
        <p:nvSpPr>
          <p:cNvPr id="8" name="TextBox 7"/>
          <p:cNvSpPr txBox="1"/>
          <p:nvPr/>
        </p:nvSpPr>
        <p:spPr>
          <a:xfrm>
            <a:off x="3337560" y="1679974"/>
            <a:ext cx="738329" cy="461665"/>
          </a:xfrm>
          <a:prstGeom prst="rect">
            <a:avLst/>
          </a:prstGeom>
          <a:noFill/>
        </p:spPr>
        <p:txBody>
          <a:bodyPr wrap="square" lIns="45720" rIns="45720">
            <a:spAutoFit/>
          </a:bodyPr>
          <a:lstStyle/>
          <a:p>
            <a:pPr algn="l">
              <a:defRPr sz="1600" b="1">
                <a:solidFill>
                  <a:srgbClr val="0078D4"/>
                </a:solidFill>
                <a:latin typeface="Aptos"/>
              </a:defRPr>
            </a:pPr>
            <a:r>
              <a:rPr sz="2400"/>
              <a:t>→</a:t>
            </a:r>
          </a:p>
        </p:txBody>
      </p:sp>
      <p:sp>
        <p:nvSpPr>
          <p:cNvPr id="9" name="TextBox 8"/>
          <p:cNvSpPr txBox="1"/>
          <p:nvPr/>
        </p:nvSpPr>
        <p:spPr>
          <a:xfrm>
            <a:off x="3832698" y="1731526"/>
            <a:ext cx="3612854" cy="437704"/>
          </a:xfrm>
          <a:prstGeom prst="rect">
            <a:avLst/>
          </a:prstGeom>
          <a:noFill/>
        </p:spPr>
        <p:txBody>
          <a:bodyPr wrap="square" lIns="45720" rIns="45720">
            <a:spAutoFit/>
          </a:bodyPr>
          <a:lstStyle/>
          <a:p>
            <a:pPr algn="l">
              <a:defRPr sz="1100" b="1">
                <a:solidFill>
                  <a:srgbClr val="0D2A56"/>
                </a:solidFill>
                <a:latin typeface="Aptos"/>
              </a:defRPr>
            </a:pPr>
            <a:r>
              <a:rPr sz="2200"/>
              <a:t>Structured data pipeline</a:t>
            </a:r>
          </a:p>
        </p:txBody>
      </p:sp>
      <p:sp>
        <p:nvSpPr>
          <p:cNvPr id="10" name="TextBox 9"/>
          <p:cNvSpPr txBox="1"/>
          <p:nvPr/>
        </p:nvSpPr>
        <p:spPr>
          <a:xfrm>
            <a:off x="7363839" y="1728614"/>
            <a:ext cx="4581728" cy="430887"/>
          </a:xfrm>
          <a:prstGeom prst="rect">
            <a:avLst/>
          </a:prstGeom>
          <a:noFill/>
        </p:spPr>
        <p:txBody>
          <a:bodyPr wrap="square" lIns="45720" rIns="45720">
            <a:spAutoFit/>
          </a:bodyPr>
          <a:lstStyle/>
          <a:p>
            <a:pPr algn="l">
              <a:defRPr sz="1100" b="1">
                <a:solidFill>
                  <a:srgbClr val="27AE60"/>
                </a:solidFill>
                <a:latin typeface="Aptos"/>
              </a:defRPr>
            </a:pPr>
            <a:r>
              <a:rPr sz="2200"/>
              <a:t>Consistent, reusable analysis</a:t>
            </a:r>
          </a:p>
        </p:txBody>
      </p:sp>
      <p:sp>
        <p:nvSpPr>
          <p:cNvPr id="11" name="TextBox 10"/>
          <p:cNvSpPr txBox="1"/>
          <p:nvPr/>
        </p:nvSpPr>
        <p:spPr>
          <a:xfrm>
            <a:off x="685800" y="2640094"/>
            <a:ext cx="2514600" cy="830997"/>
          </a:xfrm>
          <a:prstGeom prst="rect">
            <a:avLst/>
          </a:prstGeom>
          <a:noFill/>
        </p:spPr>
        <p:txBody>
          <a:bodyPr wrap="square" lIns="45720" rIns="45720">
            <a:spAutoFit/>
          </a:bodyPr>
          <a:lstStyle/>
          <a:p>
            <a:pPr algn="l">
              <a:defRPr sz="1100" b="1">
                <a:solidFill>
                  <a:srgbClr val="D34545"/>
                </a:solidFill>
                <a:latin typeface="Aptos"/>
              </a:defRPr>
            </a:pPr>
            <a:r>
              <a:rPr sz="2400"/>
              <a:t>Manual investigation</a:t>
            </a:r>
          </a:p>
        </p:txBody>
      </p:sp>
      <p:sp>
        <p:nvSpPr>
          <p:cNvPr id="12" name="TextBox 11"/>
          <p:cNvSpPr txBox="1"/>
          <p:nvPr/>
        </p:nvSpPr>
        <p:spPr>
          <a:xfrm>
            <a:off x="3337560" y="2640094"/>
            <a:ext cx="738329" cy="461665"/>
          </a:xfrm>
          <a:prstGeom prst="rect">
            <a:avLst/>
          </a:prstGeom>
          <a:noFill/>
        </p:spPr>
        <p:txBody>
          <a:bodyPr wrap="square" lIns="45720" rIns="45720">
            <a:spAutoFit/>
          </a:bodyPr>
          <a:lstStyle/>
          <a:p>
            <a:pPr algn="l">
              <a:defRPr sz="1600" b="1">
                <a:solidFill>
                  <a:srgbClr val="0078D4"/>
                </a:solidFill>
                <a:latin typeface="Aptos"/>
              </a:defRPr>
            </a:pPr>
            <a:r>
              <a:rPr sz="2400"/>
              <a:t>→</a:t>
            </a:r>
          </a:p>
        </p:txBody>
      </p:sp>
      <p:sp>
        <p:nvSpPr>
          <p:cNvPr id="13" name="TextBox 12"/>
          <p:cNvSpPr txBox="1"/>
          <p:nvPr/>
        </p:nvSpPr>
        <p:spPr>
          <a:xfrm>
            <a:off x="3852154" y="2698462"/>
            <a:ext cx="3593398" cy="430887"/>
          </a:xfrm>
          <a:prstGeom prst="rect">
            <a:avLst/>
          </a:prstGeom>
          <a:noFill/>
        </p:spPr>
        <p:txBody>
          <a:bodyPr wrap="square" lIns="45720" rIns="45720">
            <a:spAutoFit/>
          </a:bodyPr>
          <a:lstStyle/>
          <a:p>
            <a:pPr algn="l">
              <a:defRPr sz="1100" b="1">
                <a:solidFill>
                  <a:srgbClr val="0D2A56"/>
                </a:solidFill>
                <a:latin typeface="Aptos"/>
              </a:defRPr>
            </a:pPr>
            <a:r>
              <a:rPr sz="2200"/>
              <a:t>Automated profiling</a:t>
            </a:r>
          </a:p>
        </p:txBody>
      </p:sp>
      <p:sp>
        <p:nvSpPr>
          <p:cNvPr id="14" name="TextBox 13"/>
          <p:cNvSpPr txBox="1"/>
          <p:nvPr/>
        </p:nvSpPr>
        <p:spPr>
          <a:xfrm>
            <a:off x="7363839" y="2688734"/>
            <a:ext cx="4581728" cy="769441"/>
          </a:xfrm>
          <a:prstGeom prst="rect">
            <a:avLst/>
          </a:prstGeom>
          <a:noFill/>
        </p:spPr>
        <p:txBody>
          <a:bodyPr wrap="square" lIns="45720" rIns="45720">
            <a:spAutoFit/>
          </a:bodyPr>
          <a:lstStyle/>
          <a:p>
            <a:pPr algn="l">
              <a:defRPr sz="1100" b="1">
                <a:solidFill>
                  <a:srgbClr val="27AE60"/>
                </a:solidFill>
                <a:latin typeface="Aptos"/>
              </a:defRPr>
            </a:pPr>
            <a:r>
              <a:rPr sz="2200" dirty="0"/>
              <a:t>Faster and more repeatable review</a:t>
            </a:r>
          </a:p>
        </p:txBody>
      </p:sp>
      <p:sp>
        <p:nvSpPr>
          <p:cNvPr id="15" name="TextBox 14"/>
          <p:cNvSpPr txBox="1"/>
          <p:nvPr/>
        </p:nvSpPr>
        <p:spPr>
          <a:xfrm>
            <a:off x="685800" y="3600214"/>
            <a:ext cx="2514600" cy="461665"/>
          </a:xfrm>
          <a:prstGeom prst="rect">
            <a:avLst/>
          </a:prstGeom>
          <a:noFill/>
        </p:spPr>
        <p:txBody>
          <a:bodyPr wrap="square" lIns="45720" rIns="45720">
            <a:spAutoFit/>
          </a:bodyPr>
          <a:lstStyle/>
          <a:p>
            <a:pPr algn="l">
              <a:defRPr sz="1100" b="1">
                <a:solidFill>
                  <a:srgbClr val="D34545"/>
                </a:solidFill>
                <a:latin typeface="Aptos"/>
              </a:defRPr>
            </a:pPr>
            <a:r>
              <a:rPr sz="2400"/>
              <a:t>Hidden patterns</a:t>
            </a:r>
          </a:p>
        </p:txBody>
      </p:sp>
      <p:sp>
        <p:nvSpPr>
          <p:cNvPr id="16" name="TextBox 15"/>
          <p:cNvSpPr txBox="1"/>
          <p:nvPr/>
        </p:nvSpPr>
        <p:spPr>
          <a:xfrm>
            <a:off x="3337560" y="3600214"/>
            <a:ext cx="738329" cy="461665"/>
          </a:xfrm>
          <a:prstGeom prst="rect">
            <a:avLst/>
          </a:prstGeom>
          <a:noFill/>
        </p:spPr>
        <p:txBody>
          <a:bodyPr wrap="square" lIns="45720" rIns="45720">
            <a:spAutoFit/>
          </a:bodyPr>
          <a:lstStyle/>
          <a:p>
            <a:pPr algn="l">
              <a:defRPr sz="1600" b="1">
                <a:solidFill>
                  <a:srgbClr val="0078D4"/>
                </a:solidFill>
                <a:latin typeface="Aptos"/>
              </a:defRPr>
            </a:pPr>
            <a:r>
              <a:rPr sz="2400"/>
              <a:t>→</a:t>
            </a:r>
          </a:p>
        </p:txBody>
      </p:sp>
      <p:sp>
        <p:nvSpPr>
          <p:cNvPr id="17" name="TextBox 16"/>
          <p:cNvSpPr txBox="1"/>
          <p:nvPr/>
        </p:nvSpPr>
        <p:spPr>
          <a:xfrm>
            <a:off x="3852154" y="3658582"/>
            <a:ext cx="3593398" cy="769441"/>
          </a:xfrm>
          <a:prstGeom prst="rect">
            <a:avLst/>
          </a:prstGeom>
          <a:noFill/>
        </p:spPr>
        <p:txBody>
          <a:bodyPr wrap="square" lIns="45720" rIns="45720">
            <a:spAutoFit/>
          </a:bodyPr>
          <a:lstStyle/>
          <a:p>
            <a:pPr algn="l">
              <a:defRPr sz="1100" b="1">
                <a:solidFill>
                  <a:srgbClr val="0D2A56"/>
                </a:solidFill>
                <a:latin typeface="Aptos"/>
              </a:defRPr>
            </a:pPr>
            <a:r>
              <a:rPr sz="2200"/>
              <a:t>ML clustering &amp; outlier detection</a:t>
            </a:r>
          </a:p>
        </p:txBody>
      </p:sp>
      <p:sp>
        <p:nvSpPr>
          <p:cNvPr id="18" name="TextBox 17"/>
          <p:cNvSpPr txBox="1"/>
          <p:nvPr/>
        </p:nvSpPr>
        <p:spPr>
          <a:xfrm>
            <a:off x="7363839" y="3648854"/>
            <a:ext cx="4581728" cy="430887"/>
          </a:xfrm>
          <a:prstGeom prst="rect">
            <a:avLst/>
          </a:prstGeom>
          <a:noFill/>
        </p:spPr>
        <p:txBody>
          <a:bodyPr wrap="square" lIns="45720" rIns="45720">
            <a:spAutoFit/>
          </a:bodyPr>
          <a:lstStyle/>
          <a:p>
            <a:pPr algn="l">
              <a:defRPr sz="1100" b="1">
                <a:solidFill>
                  <a:srgbClr val="27AE60"/>
                </a:solidFill>
                <a:latin typeface="Aptos"/>
              </a:defRPr>
            </a:pPr>
            <a:r>
              <a:rPr sz="2200"/>
              <a:t>Shop-level behavioral evidence</a:t>
            </a:r>
          </a:p>
        </p:txBody>
      </p:sp>
      <p:sp>
        <p:nvSpPr>
          <p:cNvPr id="19" name="TextBox 18"/>
          <p:cNvSpPr txBox="1"/>
          <p:nvPr/>
        </p:nvSpPr>
        <p:spPr>
          <a:xfrm>
            <a:off x="685800" y="4560334"/>
            <a:ext cx="2514600" cy="461665"/>
          </a:xfrm>
          <a:prstGeom prst="rect">
            <a:avLst/>
          </a:prstGeom>
          <a:noFill/>
        </p:spPr>
        <p:txBody>
          <a:bodyPr wrap="square" lIns="45720" rIns="45720">
            <a:spAutoFit/>
          </a:bodyPr>
          <a:lstStyle/>
          <a:p>
            <a:pPr algn="l">
              <a:defRPr sz="1100" b="1">
                <a:solidFill>
                  <a:srgbClr val="D34545"/>
                </a:solidFill>
                <a:latin typeface="Aptos"/>
              </a:defRPr>
            </a:pPr>
            <a:r>
              <a:rPr sz="2400"/>
              <a:t>Complex results</a:t>
            </a:r>
          </a:p>
        </p:txBody>
      </p:sp>
      <p:sp>
        <p:nvSpPr>
          <p:cNvPr id="20" name="TextBox 19"/>
          <p:cNvSpPr txBox="1"/>
          <p:nvPr/>
        </p:nvSpPr>
        <p:spPr>
          <a:xfrm>
            <a:off x="3337560" y="4560334"/>
            <a:ext cx="738329" cy="461665"/>
          </a:xfrm>
          <a:prstGeom prst="rect">
            <a:avLst/>
          </a:prstGeom>
          <a:noFill/>
        </p:spPr>
        <p:txBody>
          <a:bodyPr wrap="square" lIns="45720" rIns="45720">
            <a:spAutoFit/>
          </a:bodyPr>
          <a:lstStyle/>
          <a:p>
            <a:pPr algn="l">
              <a:defRPr sz="1600" b="1">
                <a:solidFill>
                  <a:srgbClr val="0078D4"/>
                </a:solidFill>
                <a:latin typeface="Aptos"/>
              </a:defRPr>
            </a:pPr>
            <a:r>
              <a:rPr sz="2400"/>
              <a:t>→</a:t>
            </a:r>
          </a:p>
        </p:txBody>
      </p:sp>
      <p:sp>
        <p:nvSpPr>
          <p:cNvPr id="21" name="TextBox 20"/>
          <p:cNvSpPr txBox="1"/>
          <p:nvPr/>
        </p:nvSpPr>
        <p:spPr>
          <a:xfrm>
            <a:off x="3852154" y="4618702"/>
            <a:ext cx="3593398" cy="430887"/>
          </a:xfrm>
          <a:prstGeom prst="rect">
            <a:avLst/>
          </a:prstGeom>
          <a:noFill/>
        </p:spPr>
        <p:txBody>
          <a:bodyPr wrap="square" lIns="45720" rIns="45720">
            <a:spAutoFit/>
          </a:bodyPr>
          <a:lstStyle/>
          <a:p>
            <a:pPr algn="l">
              <a:defRPr sz="1100" b="1">
                <a:solidFill>
                  <a:srgbClr val="0D2A56"/>
                </a:solidFill>
                <a:latin typeface="Aptos"/>
              </a:defRPr>
            </a:pPr>
            <a:r>
              <a:rPr sz="2200"/>
              <a:t>Interactive dashboard</a:t>
            </a:r>
          </a:p>
        </p:txBody>
      </p:sp>
      <p:sp>
        <p:nvSpPr>
          <p:cNvPr id="22" name="TextBox 21"/>
          <p:cNvSpPr txBox="1"/>
          <p:nvPr/>
        </p:nvSpPr>
        <p:spPr>
          <a:xfrm>
            <a:off x="7363839" y="4608974"/>
            <a:ext cx="4581728" cy="430887"/>
          </a:xfrm>
          <a:prstGeom prst="rect">
            <a:avLst/>
          </a:prstGeom>
          <a:noFill/>
        </p:spPr>
        <p:txBody>
          <a:bodyPr wrap="square" lIns="45720" rIns="45720">
            <a:spAutoFit/>
          </a:bodyPr>
          <a:lstStyle/>
          <a:p>
            <a:pPr algn="l">
              <a:defRPr sz="1100" b="1">
                <a:solidFill>
                  <a:srgbClr val="27AE60"/>
                </a:solidFill>
                <a:latin typeface="Aptos"/>
              </a:defRPr>
            </a:pPr>
            <a:r>
              <a:rPr sz="2200"/>
              <a:t>Clear filters, charts, and reports</a:t>
            </a:r>
          </a:p>
        </p:txBody>
      </p:sp>
      <p:sp>
        <p:nvSpPr>
          <p:cNvPr id="23" name="TextBox 22"/>
          <p:cNvSpPr txBox="1"/>
          <p:nvPr/>
        </p:nvSpPr>
        <p:spPr>
          <a:xfrm>
            <a:off x="685800" y="5532120"/>
            <a:ext cx="10789920" cy="228600"/>
          </a:xfrm>
          <a:prstGeom prst="rect">
            <a:avLst/>
          </a:prstGeom>
          <a:noFill/>
        </p:spPr>
        <p:txBody>
          <a:bodyPr wrap="square" lIns="45720" rIns="45720">
            <a:spAutoFit/>
          </a:bodyPr>
          <a:lstStyle/>
          <a:p>
            <a:pPr algn="l">
              <a:defRPr sz="1300" b="1">
                <a:solidFill>
                  <a:srgbClr val="0D2A56"/>
                </a:solidFill>
                <a:latin typeface="Aptos"/>
              </a:defRPr>
            </a:pPr>
            <a:r>
              <a:t>Result: decision-makers receive evidence, context, and a defensible path to investigate—not an opaque automated verdict.</a:t>
            </a:r>
          </a:p>
        </p:txBody>
      </p:sp>
      <p:sp>
        <p:nvSpPr>
          <p:cNvPr id="24" name="TextBox 23"/>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482688"/>
            <a:ext cx="6217920" cy="256032"/>
          </a:xfrm>
          <a:prstGeom prst="rect">
            <a:avLst/>
          </a:prstGeom>
          <a:noFill/>
        </p:spPr>
        <p:txBody>
          <a:bodyPr wrap="none">
            <a:spAutoFit/>
          </a:bodyPr>
          <a:lstStyle/>
          <a:p>
            <a:pPr>
              <a:defRPr sz="900" b="1">
                <a:solidFill>
                  <a:srgbClr val="0078D4"/>
                </a:solidFill>
                <a:latin typeface="Aptos"/>
              </a:defRPr>
            </a:pPr>
            <a:r>
              <a:rPr dirty="0"/>
              <a:t>USER → DATA → ANALYTICS → DECISION</a:t>
            </a:r>
          </a:p>
        </p:txBody>
      </p:sp>
      <p:sp>
        <p:nvSpPr>
          <p:cNvPr id="3" name="TextBox 2"/>
          <p:cNvSpPr txBox="1"/>
          <p:nvPr/>
        </p:nvSpPr>
        <p:spPr>
          <a:xfrm>
            <a:off x="583464" y="769479"/>
            <a:ext cx="10972800" cy="438912"/>
          </a:xfrm>
          <a:prstGeom prst="rect">
            <a:avLst/>
          </a:prstGeom>
          <a:noFill/>
        </p:spPr>
        <p:txBody>
          <a:bodyPr wrap="none">
            <a:spAutoFit/>
          </a:bodyPr>
          <a:lstStyle/>
          <a:p>
            <a:pPr>
              <a:defRPr sz="2700" b="1">
                <a:solidFill>
                  <a:srgbClr val="0D2A56"/>
                </a:solidFill>
                <a:latin typeface="Aptos"/>
              </a:defRPr>
            </a:pPr>
            <a:r>
              <a:rPr dirty="0"/>
              <a:t>Application architecture — app.py</a:t>
            </a:r>
          </a:p>
        </p:txBody>
      </p:sp>
      <p:sp>
        <p:nvSpPr>
          <p:cNvPr id="4" name="TextBox 3"/>
          <p:cNvSpPr txBox="1"/>
          <p:nvPr/>
        </p:nvSpPr>
        <p:spPr>
          <a:xfrm>
            <a:off x="566928" y="1278024"/>
            <a:ext cx="10789920" cy="320040"/>
          </a:xfrm>
          <a:prstGeom prst="rect">
            <a:avLst/>
          </a:prstGeom>
          <a:noFill/>
        </p:spPr>
        <p:txBody>
          <a:bodyPr wrap="none">
            <a:spAutoFit/>
          </a:bodyPr>
          <a:lstStyle/>
          <a:p>
            <a:pPr>
              <a:defRPr sz="1200">
                <a:solidFill>
                  <a:srgbClr val="5B6977"/>
                </a:solidFill>
                <a:latin typeface="Aptos"/>
              </a:defRPr>
            </a:pPr>
            <a:r>
              <a:rPr dirty="0"/>
              <a:t>The dashboard implementation layer</a:t>
            </a:r>
          </a:p>
        </p:txBody>
      </p:sp>
      <p:sp>
        <p:nvSpPr>
          <p:cNvPr id="5" name="Rectangle 4"/>
          <p:cNvSpPr/>
          <p:nvPr/>
        </p:nvSpPr>
        <p:spPr>
          <a:xfrm>
            <a:off x="566928" y="1652928"/>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13</a:t>
            </a:r>
          </a:p>
        </p:txBody>
      </p:sp>
      <p:sp>
        <p:nvSpPr>
          <p:cNvPr id="7" name="Rounded Rectangle 6"/>
          <p:cNvSpPr/>
          <p:nvPr/>
        </p:nvSpPr>
        <p:spPr>
          <a:xfrm>
            <a:off x="685800" y="2292816"/>
            <a:ext cx="2331720" cy="11430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2292816"/>
            <a:ext cx="73152" cy="1143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332696"/>
            <a:ext cx="2011679"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User</a:t>
            </a:r>
            <a:endParaRPr lang="en-SG" sz="2000" dirty="0"/>
          </a:p>
        </p:txBody>
      </p:sp>
      <p:sp>
        <p:nvSpPr>
          <p:cNvPr id="10" name="TextBox 9"/>
          <p:cNvSpPr txBox="1"/>
          <p:nvPr/>
        </p:nvSpPr>
        <p:spPr>
          <a:xfrm>
            <a:off x="729234" y="2679595"/>
            <a:ext cx="2258568" cy="830997"/>
          </a:xfrm>
          <a:prstGeom prst="rect">
            <a:avLst/>
          </a:prstGeom>
          <a:noFill/>
        </p:spPr>
        <p:txBody>
          <a:bodyPr wrap="square" lIns="45720" rIns="45720">
            <a:spAutoFit/>
          </a:bodyPr>
          <a:lstStyle/>
          <a:p>
            <a:pPr algn="ctr">
              <a:defRPr sz="1000" b="0">
                <a:solidFill>
                  <a:srgbClr val="1F2B39"/>
                </a:solidFill>
                <a:latin typeface="Aptos"/>
              </a:defRPr>
            </a:pPr>
            <a:r>
              <a:rPr sz="1600"/>
              <a:t>Select district, cluster, shop, and anomaly filters.</a:t>
            </a:r>
          </a:p>
        </p:txBody>
      </p:sp>
      <p:sp>
        <p:nvSpPr>
          <p:cNvPr id="11" name="Rounded Rectangle 10"/>
          <p:cNvSpPr/>
          <p:nvPr/>
        </p:nvSpPr>
        <p:spPr>
          <a:xfrm>
            <a:off x="3337560" y="2292816"/>
            <a:ext cx="2331720" cy="11430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7560" y="2292816"/>
            <a:ext cx="73152" cy="114300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38728" y="2332696"/>
            <a:ext cx="2011679"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err="1" smtClean="0"/>
              <a:t>Streamlit</a:t>
            </a:r>
            <a:r>
              <a:rPr lang="en-SG" sz="2000" dirty="0" smtClean="0"/>
              <a:t> UI</a:t>
            </a:r>
            <a:endParaRPr lang="en-SG" sz="2000" dirty="0"/>
          </a:p>
        </p:txBody>
      </p:sp>
      <p:sp>
        <p:nvSpPr>
          <p:cNvPr id="14" name="TextBox 13"/>
          <p:cNvSpPr txBox="1"/>
          <p:nvPr/>
        </p:nvSpPr>
        <p:spPr>
          <a:xfrm>
            <a:off x="3380994" y="2679595"/>
            <a:ext cx="2288286" cy="584775"/>
          </a:xfrm>
          <a:prstGeom prst="rect">
            <a:avLst/>
          </a:prstGeom>
          <a:noFill/>
        </p:spPr>
        <p:txBody>
          <a:bodyPr wrap="square" lIns="45720" rIns="45720">
            <a:spAutoFit/>
          </a:bodyPr>
          <a:lstStyle/>
          <a:p>
            <a:pPr algn="ctr">
              <a:defRPr sz="1000" b="0">
                <a:solidFill>
                  <a:srgbClr val="1F2B39"/>
                </a:solidFill>
                <a:latin typeface="Aptos"/>
              </a:defRPr>
            </a:pPr>
            <a:r>
              <a:rPr sz="1600" dirty="0"/>
              <a:t>Executive dashboard, tabs, charts, and tables.</a:t>
            </a:r>
          </a:p>
        </p:txBody>
      </p:sp>
      <p:sp>
        <p:nvSpPr>
          <p:cNvPr id="15" name="Rounded Rectangle 14"/>
          <p:cNvSpPr/>
          <p:nvPr/>
        </p:nvSpPr>
        <p:spPr>
          <a:xfrm>
            <a:off x="5989320" y="2292816"/>
            <a:ext cx="2331720" cy="11430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89320" y="2292816"/>
            <a:ext cx="73152" cy="114300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90488" y="2332696"/>
            <a:ext cx="2011679"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Data Layer</a:t>
            </a:r>
            <a:endParaRPr lang="en-SG" sz="2000" dirty="0"/>
          </a:p>
        </p:txBody>
      </p:sp>
      <p:sp>
        <p:nvSpPr>
          <p:cNvPr id="18" name="TextBox 17"/>
          <p:cNvSpPr txBox="1"/>
          <p:nvPr/>
        </p:nvSpPr>
        <p:spPr>
          <a:xfrm>
            <a:off x="6032754" y="2679595"/>
            <a:ext cx="2258568" cy="830997"/>
          </a:xfrm>
          <a:prstGeom prst="rect">
            <a:avLst/>
          </a:prstGeom>
          <a:noFill/>
        </p:spPr>
        <p:txBody>
          <a:bodyPr wrap="square" lIns="45720" rIns="45720">
            <a:spAutoFit/>
          </a:bodyPr>
          <a:lstStyle/>
          <a:p>
            <a:pPr algn="ctr">
              <a:defRPr sz="1000" b="0">
                <a:solidFill>
                  <a:srgbClr val="1F2B39"/>
                </a:solidFill>
                <a:latin typeface="Aptos"/>
              </a:defRPr>
            </a:pPr>
            <a:r>
              <a:rPr sz="1600"/>
              <a:t>Parquet/model data with a 500-row simulation fallback.</a:t>
            </a:r>
          </a:p>
        </p:txBody>
      </p:sp>
      <p:sp>
        <p:nvSpPr>
          <p:cNvPr id="19" name="Rounded Rectangle 18"/>
          <p:cNvSpPr/>
          <p:nvPr/>
        </p:nvSpPr>
        <p:spPr>
          <a:xfrm>
            <a:off x="8641080" y="2292816"/>
            <a:ext cx="2834640" cy="11430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41080" y="2292816"/>
            <a:ext cx="73152" cy="1143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42248" y="2332696"/>
            <a:ext cx="251460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Analytics</a:t>
            </a:r>
            <a:endParaRPr lang="en-SG" sz="2000" dirty="0"/>
          </a:p>
        </p:txBody>
      </p:sp>
      <p:sp>
        <p:nvSpPr>
          <p:cNvPr id="22" name="TextBox 21"/>
          <p:cNvSpPr txBox="1"/>
          <p:nvPr/>
        </p:nvSpPr>
        <p:spPr>
          <a:xfrm>
            <a:off x="8652509" y="2679595"/>
            <a:ext cx="2823211" cy="830997"/>
          </a:xfrm>
          <a:prstGeom prst="rect">
            <a:avLst/>
          </a:prstGeom>
          <a:noFill/>
        </p:spPr>
        <p:txBody>
          <a:bodyPr wrap="square" lIns="45720" rIns="45720">
            <a:spAutoFit/>
          </a:bodyPr>
          <a:lstStyle/>
          <a:p>
            <a:pPr algn="ctr">
              <a:defRPr sz="1000" b="0">
                <a:solidFill>
                  <a:srgbClr val="1F2B39"/>
                </a:solidFill>
                <a:latin typeface="Aptos"/>
              </a:defRPr>
            </a:pPr>
            <a:r>
              <a:rPr sz="1600"/>
              <a:t>PCA plots, cluster profiles, shop comparisons, anomaly queue.</a:t>
            </a:r>
          </a:p>
        </p:txBody>
      </p:sp>
      <p:sp>
        <p:nvSpPr>
          <p:cNvPr id="23" name="Rounded Rectangle 22"/>
          <p:cNvSpPr/>
          <p:nvPr/>
        </p:nvSpPr>
        <p:spPr>
          <a:xfrm>
            <a:off x="685800" y="3997104"/>
            <a:ext cx="10853928" cy="196596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85800" y="3997104"/>
            <a:ext cx="73152" cy="1965960"/>
          </a:xfrm>
          <a:prstGeom prst="rect">
            <a:avLst/>
          </a:prstGeom>
          <a:solidFill>
            <a:srgbClr val="1F2B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7720" y="4184699"/>
            <a:ext cx="11384280" cy="400110"/>
          </a:xfrm>
          <a:prstGeom prst="rect">
            <a:avLst/>
          </a:prstGeom>
          <a:noFill/>
        </p:spPr>
        <p:txBody>
          <a:bodyPr wrap="square" lIns="45720" rIns="45720">
            <a:spAutoFit/>
          </a:bodyPr>
          <a:lstStyle/>
          <a:p>
            <a:pPr algn="ctr">
              <a:defRPr sz="1300" b="1">
                <a:solidFill>
                  <a:srgbClr val="0D2A56"/>
                </a:solidFill>
                <a:latin typeface="Aptos"/>
              </a:defRPr>
            </a:pPr>
            <a:r>
              <a:rPr lang="en-SG" sz="2000" dirty="0" smtClean="0"/>
              <a:t>Current Implementation Behaviour</a:t>
            </a:r>
            <a:endParaRPr lang="en-SG" sz="2000" dirty="0"/>
          </a:p>
        </p:txBody>
      </p:sp>
      <p:sp>
        <p:nvSpPr>
          <p:cNvPr id="26" name="TextBox 25"/>
          <p:cNvSpPr txBox="1"/>
          <p:nvPr/>
        </p:nvSpPr>
        <p:spPr>
          <a:xfrm>
            <a:off x="886968" y="4626486"/>
            <a:ext cx="10469880" cy="1015663"/>
          </a:xfrm>
          <a:prstGeom prst="rect">
            <a:avLst/>
          </a:prstGeom>
          <a:noFill/>
        </p:spPr>
        <p:txBody>
          <a:bodyPr wrap="square" lIns="45720" rIns="45720">
            <a:spAutoFit/>
          </a:bodyPr>
          <a:lstStyle/>
          <a:p>
            <a:pPr algn="ctr">
              <a:defRPr sz="1000" b="0">
                <a:solidFill>
                  <a:srgbClr val="1F2B39"/>
                </a:solidFill>
                <a:latin typeface="Aptos"/>
              </a:defRPr>
            </a:pPr>
            <a:r>
              <a:rPr sz="2000" dirty="0"/>
              <a:t>The app loads </a:t>
            </a:r>
            <a:r>
              <a:rPr sz="2000" dirty="0" err="1"/>
              <a:t>shop_features_modeled.parquet</a:t>
            </a:r>
            <a:r>
              <a:rPr sz="2000" dirty="0"/>
              <a:t> when present; otherwise it generates synthetic records. It filters by district and cluster, optionally shows anomalies, displays KPI cards, supports shop lookup, and exports an anomaly CSV.</a:t>
            </a:r>
          </a:p>
        </p:txBody>
      </p:sp>
      <p:sp>
        <p:nvSpPr>
          <p:cNvPr id="29" name="TextBox 28"/>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APPLICATION FLOW</a:t>
            </a:r>
          </a:p>
        </p:txBody>
      </p:sp>
      <p:sp>
        <p:nvSpPr>
          <p:cNvPr id="3" name="TextBox 2"/>
          <p:cNvSpPr txBox="1"/>
          <p:nvPr/>
        </p:nvSpPr>
        <p:spPr>
          <a:xfrm>
            <a:off x="566928" y="673155"/>
            <a:ext cx="10972800" cy="438912"/>
          </a:xfrm>
          <a:prstGeom prst="rect">
            <a:avLst/>
          </a:prstGeom>
          <a:noFill/>
        </p:spPr>
        <p:txBody>
          <a:bodyPr wrap="none">
            <a:spAutoFit/>
          </a:bodyPr>
          <a:lstStyle/>
          <a:p>
            <a:pPr>
              <a:defRPr sz="2700" b="1">
                <a:solidFill>
                  <a:srgbClr val="0D2A56"/>
                </a:solidFill>
                <a:latin typeface="Aptos"/>
              </a:defRPr>
            </a:pPr>
            <a:r>
              <a:t>How the application works</a:t>
            </a:r>
          </a:p>
        </p:txBody>
      </p:sp>
      <p:sp>
        <p:nvSpPr>
          <p:cNvPr id="4" name="TextBox 3"/>
          <p:cNvSpPr txBox="1"/>
          <p:nvPr/>
        </p:nvSpPr>
        <p:spPr>
          <a:xfrm>
            <a:off x="566928" y="1102923"/>
            <a:ext cx="10789920" cy="320040"/>
          </a:xfrm>
          <a:prstGeom prst="rect">
            <a:avLst/>
          </a:prstGeom>
          <a:noFill/>
        </p:spPr>
        <p:txBody>
          <a:bodyPr wrap="none">
            <a:spAutoFit/>
          </a:bodyPr>
          <a:lstStyle/>
          <a:p>
            <a:pPr>
              <a:defRPr sz="1200">
                <a:solidFill>
                  <a:srgbClr val="5B6977"/>
                </a:solidFill>
                <a:latin typeface="Aptos"/>
              </a:defRPr>
            </a:pPr>
            <a:r>
              <a:t>A simple user journey from selection to evidence</a:t>
            </a:r>
          </a:p>
        </p:txBody>
      </p:sp>
      <p:sp>
        <p:nvSpPr>
          <p:cNvPr id="5" name="Rectangle 4"/>
          <p:cNvSpPr/>
          <p:nvPr/>
        </p:nvSpPr>
        <p:spPr>
          <a:xfrm>
            <a:off x="566928" y="1477827"/>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14</a:t>
            </a:r>
          </a:p>
        </p:txBody>
      </p:sp>
      <p:sp>
        <p:nvSpPr>
          <p:cNvPr id="7" name="TextBox 6"/>
          <p:cNvSpPr txBox="1"/>
          <p:nvPr/>
        </p:nvSpPr>
        <p:spPr>
          <a:xfrm>
            <a:off x="685800" y="1728612"/>
            <a:ext cx="2377440" cy="461665"/>
          </a:xfrm>
          <a:prstGeom prst="rect">
            <a:avLst/>
          </a:prstGeom>
          <a:noFill/>
        </p:spPr>
        <p:txBody>
          <a:bodyPr wrap="square" lIns="45720" rIns="45720">
            <a:spAutoFit/>
          </a:bodyPr>
          <a:lstStyle/>
          <a:p>
            <a:pPr algn="l">
              <a:defRPr sz="1100" b="1">
                <a:solidFill>
                  <a:srgbClr val="0D2A56"/>
                </a:solidFill>
                <a:latin typeface="Aptos"/>
              </a:defRPr>
            </a:pPr>
            <a:r>
              <a:rPr lang="en-SG" sz="2400" dirty="0" smtClean="0"/>
              <a:t>Open App</a:t>
            </a:r>
            <a:endParaRPr lang="en-SG" sz="2400" dirty="0"/>
          </a:p>
        </p:txBody>
      </p:sp>
      <p:sp>
        <p:nvSpPr>
          <p:cNvPr id="8" name="TextBox 7"/>
          <p:cNvSpPr txBox="1"/>
          <p:nvPr/>
        </p:nvSpPr>
        <p:spPr>
          <a:xfrm>
            <a:off x="3337560" y="1728612"/>
            <a:ext cx="8138160" cy="830997"/>
          </a:xfrm>
          <a:prstGeom prst="rect">
            <a:avLst/>
          </a:prstGeom>
          <a:noFill/>
        </p:spPr>
        <p:txBody>
          <a:bodyPr wrap="square" lIns="45720" rIns="45720">
            <a:spAutoFit/>
          </a:bodyPr>
          <a:lstStyle/>
          <a:p>
            <a:pPr algn="l">
              <a:defRPr sz="1100" b="0">
                <a:solidFill>
                  <a:srgbClr val="1F2B39"/>
                </a:solidFill>
                <a:latin typeface="Aptos"/>
              </a:defRPr>
            </a:pPr>
            <a:r>
              <a:rPr sz="2400" dirty="0"/>
              <a:t>The </a:t>
            </a:r>
            <a:r>
              <a:rPr sz="2400" dirty="0" err="1"/>
              <a:t>Streamlit</a:t>
            </a:r>
            <a:r>
              <a:rPr sz="2400" dirty="0"/>
              <a:t> page loads the data and shows the title and control panel.</a:t>
            </a:r>
          </a:p>
        </p:txBody>
      </p:sp>
      <p:sp>
        <p:nvSpPr>
          <p:cNvPr id="10" name="TextBox 9"/>
          <p:cNvSpPr txBox="1"/>
          <p:nvPr/>
        </p:nvSpPr>
        <p:spPr>
          <a:xfrm>
            <a:off x="685800" y="2597292"/>
            <a:ext cx="2377440" cy="461665"/>
          </a:xfrm>
          <a:prstGeom prst="rect">
            <a:avLst/>
          </a:prstGeom>
          <a:noFill/>
        </p:spPr>
        <p:txBody>
          <a:bodyPr wrap="square" lIns="45720" rIns="45720">
            <a:spAutoFit/>
          </a:bodyPr>
          <a:lstStyle/>
          <a:p>
            <a:pPr algn="l">
              <a:defRPr sz="1100" b="1">
                <a:solidFill>
                  <a:srgbClr val="0D2A56"/>
                </a:solidFill>
                <a:latin typeface="Aptos"/>
              </a:defRPr>
            </a:pPr>
            <a:r>
              <a:rPr lang="en-SG" sz="2400" dirty="0" smtClean="0"/>
              <a:t>Select Inputs</a:t>
            </a:r>
            <a:endParaRPr lang="en-SG" sz="2400" dirty="0"/>
          </a:p>
        </p:txBody>
      </p:sp>
      <p:sp>
        <p:nvSpPr>
          <p:cNvPr id="11" name="TextBox 10"/>
          <p:cNvSpPr txBox="1"/>
          <p:nvPr/>
        </p:nvSpPr>
        <p:spPr>
          <a:xfrm>
            <a:off x="3337560" y="2597292"/>
            <a:ext cx="8138160" cy="461665"/>
          </a:xfrm>
          <a:prstGeom prst="rect">
            <a:avLst/>
          </a:prstGeom>
          <a:noFill/>
        </p:spPr>
        <p:txBody>
          <a:bodyPr wrap="square" lIns="45720" rIns="45720">
            <a:spAutoFit/>
          </a:bodyPr>
          <a:lstStyle/>
          <a:p>
            <a:pPr algn="l">
              <a:defRPr sz="1100" b="0">
                <a:solidFill>
                  <a:srgbClr val="1F2B39"/>
                </a:solidFill>
                <a:latin typeface="Aptos"/>
              </a:defRPr>
            </a:pPr>
            <a:r>
              <a:rPr sz="2400"/>
              <a:t>Districts, clusters, and anomaly view are chosen.</a:t>
            </a:r>
          </a:p>
        </p:txBody>
      </p:sp>
      <p:sp>
        <p:nvSpPr>
          <p:cNvPr id="13" name="TextBox 12"/>
          <p:cNvSpPr txBox="1"/>
          <p:nvPr/>
        </p:nvSpPr>
        <p:spPr>
          <a:xfrm>
            <a:off x="685800" y="3465972"/>
            <a:ext cx="2377440" cy="461665"/>
          </a:xfrm>
          <a:prstGeom prst="rect">
            <a:avLst/>
          </a:prstGeom>
          <a:noFill/>
        </p:spPr>
        <p:txBody>
          <a:bodyPr wrap="square" lIns="45720" rIns="45720">
            <a:spAutoFit/>
          </a:bodyPr>
          <a:lstStyle/>
          <a:p>
            <a:pPr algn="l">
              <a:defRPr sz="1100" b="1">
                <a:solidFill>
                  <a:srgbClr val="0D2A56"/>
                </a:solidFill>
                <a:latin typeface="Aptos"/>
              </a:defRPr>
            </a:pPr>
            <a:r>
              <a:rPr lang="en-SG" sz="2400" dirty="0" smtClean="0"/>
              <a:t>Process Filters</a:t>
            </a:r>
            <a:endParaRPr lang="en-SG" sz="2400" dirty="0"/>
          </a:p>
        </p:txBody>
      </p:sp>
      <p:sp>
        <p:nvSpPr>
          <p:cNvPr id="14" name="TextBox 13"/>
          <p:cNvSpPr txBox="1"/>
          <p:nvPr/>
        </p:nvSpPr>
        <p:spPr>
          <a:xfrm>
            <a:off x="3337560" y="3465972"/>
            <a:ext cx="8138160" cy="461665"/>
          </a:xfrm>
          <a:prstGeom prst="rect">
            <a:avLst/>
          </a:prstGeom>
          <a:noFill/>
        </p:spPr>
        <p:txBody>
          <a:bodyPr wrap="square" lIns="45720" rIns="45720">
            <a:spAutoFit/>
          </a:bodyPr>
          <a:lstStyle/>
          <a:p>
            <a:pPr algn="l">
              <a:defRPr sz="1100" b="0">
                <a:solidFill>
                  <a:srgbClr val="1F2B39"/>
                </a:solidFill>
                <a:latin typeface="Aptos"/>
              </a:defRPr>
            </a:pPr>
            <a:r>
              <a:rPr sz="2400"/>
              <a:t>The current result is restricted by the selected criteria.</a:t>
            </a:r>
          </a:p>
        </p:txBody>
      </p:sp>
      <p:sp>
        <p:nvSpPr>
          <p:cNvPr id="16" name="TextBox 15"/>
          <p:cNvSpPr txBox="1"/>
          <p:nvPr/>
        </p:nvSpPr>
        <p:spPr>
          <a:xfrm>
            <a:off x="685800" y="4334651"/>
            <a:ext cx="2377440" cy="461665"/>
          </a:xfrm>
          <a:prstGeom prst="rect">
            <a:avLst/>
          </a:prstGeom>
          <a:noFill/>
        </p:spPr>
        <p:txBody>
          <a:bodyPr wrap="square" lIns="45720" rIns="45720">
            <a:spAutoFit/>
          </a:bodyPr>
          <a:lstStyle/>
          <a:p>
            <a:pPr algn="l">
              <a:defRPr sz="1100" b="1">
                <a:solidFill>
                  <a:srgbClr val="0D2A56"/>
                </a:solidFill>
                <a:latin typeface="Aptos"/>
              </a:defRPr>
            </a:pPr>
            <a:r>
              <a:rPr lang="en-SG" sz="2400" dirty="0" smtClean="0"/>
              <a:t>Review Results</a:t>
            </a:r>
            <a:endParaRPr lang="en-SG" sz="2400" dirty="0"/>
          </a:p>
        </p:txBody>
      </p:sp>
      <p:sp>
        <p:nvSpPr>
          <p:cNvPr id="17" name="TextBox 16"/>
          <p:cNvSpPr txBox="1"/>
          <p:nvPr/>
        </p:nvSpPr>
        <p:spPr>
          <a:xfrm>
            <a:off x="3337560" y="4334651"/>
            <a:ext cx="8138160" cy="830997"/>
          </a:xfrm>
          <a:prstGeom prst="rect">
            <a:avLst/>
          </a:prstGeom>
          <a:noFill/>
        </p:spPr>
        <p:txBody>
          <a:bodyPr wrap="square" lIns="45720" rIns="45720">
            <a:spAutoFit/>
          </a:bodyPr>
          <a:lstStyle/>
          <a:p>
            <a:pPr algn="l">
              <a:defRPr sz="1100" b="0">
                <a:solidFill>
                  <a:srgbClr val="1F2B39"/>
                </a:solidFill>
                <a:latin typeface="Aptos"/>
              </a:defRPr>
            </a:pPr>
            <a:r>
              <a:rPr sz="2400"/>
              <a:t>KPI cards, PCA plot, cluster profile, and shop details are shown.</a:t>
            </a:r>
          </a:p>
        </p:txBody>
      </p:sp>
      <p:sp>
        <p:nvSpPr>
          <p:cNvPr id="19" name="TextBox 18"/>
          <p:cNvSpPr txBox="1"/>
          <p:nvPr/>
        </p:nvSpPr>
        <p:spPr>
          <a:xfrm>
            <a:off x="685800" y="5203332"/>
            <a:ext cx="2377440" cy="461665"/>
          </a:xfrm>
          <a:prstGeom prst="rect">
            <a:avLst/>
          </a:prstGeom>
          <a:noFill/>
        </p:spPr>
        <p:txBody>
          <a:bodyPr wrap="square" lIns="45720" rIns="45720">
            <a:spAutoFit/>
          </a:bodyPr>
          <a:lstStyle/>
          <a:p>
            <a:pPr algn="l">
              <a:defRPr sz="1100" b="1">
                <a:solidFill>
                  <a:srgbClr val="0D2A56"/>
                </a:solidFill>
                <a:latin typeface="Aptos"/>
              </a:defRPr>
            </a:pPr>
            <a:r>
              <a:rPr lang="en-SG" sz="2400" dirty="0" smtClean="0"/>
              <a:t>Investigate</a:t>
            </a:r>
            <a:endParaRPr lang="en-SG" sz="2400" dirty="0"/>
          </a:p>
        </p:txBody>
      </p:sp>
      <p:sp>
        <p:nvSpPr>
          <p:cNvPr id="20" name="TextBox 19"/>
          <p:cNvSpPr txBox="1"/>
          <p:nvPr/>
        </p:nvSpPr>
        <p:spPr>
          <a:xfrm>
            <a:off x="3337560" y="5203332"/>
            <a:ext cx="8138160" cy="830997"/>
          </a:xfrm>
          <a:prstGeom prst="rect">
            <a:avLst/>
          </a:prstGeom>
          <a:noFill/>
        </p:spPr>
        <p:txBody>
          <a:bodyPr wrap="square" lIns="45720" rIns="45720">
            <a:spAutoFit/>
          </a:bodyPr>
          <a:lstStyle/>
          <a:p>
            <a:pPr algn="l">
              <a:defRPr sz="1100" b="0">
                <a:solidFill>
                  <a:srgbClr val="1F2B39"/>
                </a:solidFill>
                <a:latin typeface="Aptos"/>
              </a:defRPr>
            </a:pPr>
            <a:r>
              <a:rPr sz="2400"/>
              <a:t>A shop can be searched and compared with state averages.</a:t>
            </a:r>
          </a:p>
        </p:txBody>
      </p:sp>
      <p:sp>
        <p:nvSpPr>
          <p:cNvPr id="22" name="TextBox 2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HONEST ASSESSMENT</a:t>
            </a:r>
          </a:p>
        </p:txBody>
      </p:sp>
      <p:sp>
        <p:nvSpPr>
          <p:cNvPr id="3" name="TextBox 2"/>
          <p:cNvSpPr txBox="1"/>
          <p:nvPr/>
        </p:nvSpPr>
        <p:spPr>
          <a:xfrm>
            <a:off x="489104" y="439696"/>
            <a:ext cx="10972800" cy="438912"/>
          </a:xfrm>
          <a:prstGeom prst="rect">
            <a:avLst/>
          </a:prstGeom>
          <a:noFill/>
        </p:spPr>
        <p:txBody>
          <a:bodyPr wrap="none">
            <a:spAutoFit/>
          </a:bodyPr>
          <a:lstStyle/>
          <a:p>
            <a:pPr>
              <a:defRPr sz="2700" b="1">
                <a:solidFill>
                  <a:srgbClr val="0D2A56"/>
                </a:solidFill>
                <a:latin typeface="Aptos"/>
              </a:defRPr>
            </a:pPr>
            <a:r>
              <a:t>Limitations and production gaps</a:t>
            </a:r>
          </a:p>
        </p:txBody>
      </p:sp>
      <p:sp>
        <p:nvSpPr>
          <p:cNvPr id="4" name="TextBox 3"/>
          <p:cNvSpPr txBox="1"/>
          <p:nvPr/>
        </p:nvSpPr>
        <p:spPr>
          <a:xfrm>
            <a:off x="489104" y="869464"/>
            <a:ext cx="10789920" cy="320040"/>
          </a:xfrm>
          <a:prstGeom prst="rect">
            <a:avLst/>
          </a:prstGeom>
          <a:noFill/>
        </p:spPr>
        <p:txBody>
          <a:bodyPr wrap="none">
            <a:spAutoFit/>
          </a:bodyPr>
          <a:lstStyle/>
          <a:p>
            <a:pPr>
              <a:defRPr sz="1200">
                <a:solidFill>
                  <a:srgbClr val="5B6977"/>
                </a:solidFill>
                <a:latin typeface="Aptos"/>
              </a:defRPr>
            </a:pPr>
            <a:r>
              <a:t>What must be fixed before operational use</a:t>
            </a:r>
          </a:p>
        </p:txBody>
      </p:sp>
      <p:sp>
        <p:nvSpPr>
          <p:cNvPr id="5" name="Rectangle 4"/>
          <p:cNvSpPr/>
          <p:nvPr/>
        </p:nvSpPr>
        <p:spPr>
          <a:xfrm>
            <a:off x="489104" y="1244368"/>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15</a:t>
            </a:r>
          </a:p>
        </p:txBody>
      </p:sp>
      <p:sp>
        <p:nvSpPr>
          <p:cNvPr id="7" name="TextBox 6"/>
          <p:cNvSpPr txBox="1"/>
          <p:nvPr/>
        </p:nvSpPr>
        <p:spPr>
          <a:xfrm>
            <a:off x="452725" y="1654588"/>
            <a:ext cx="6280566" cy="3923638"/>
          </a:xfrm>
          <a:prstGeom prst="rect">
            <a:avLst/>
          </a:prstGeom>
          <a:noFill/>
        </p:spPr>
        <p:txBody>
          <a:bodyPr wrap="square" lIns="73152" tIns="36576" rIns="73152" bIns="36576">
            <a:spAutoFit/>
          </a:bodyPr>
          <a:lstStyle/>
          <a:p>
            <a:pPr>
              <a:spcAft>
                <a:spcPts val="700"/>
              </a:spcAft>
              <a:defRPr sz="1300">
                <a:solidFill>
                  <a:srgbClr val="1F2B39"/>
                </a:solidFill>
                <a:latin typeface="Aptos"/>
              </a:defRPr>
            </a:pPr>
            <a:r>
              <a:rPr lang="en-SG" sz="1700" b="1" dirty="0" smtClean="0"/>
              <a:t>•  Time-period Inconsistency: </a:t>
            </a:r>
            <a:r>
              <a:rPr sz="1700" dirty="0" smtClean="0"/>
              <a:t>notebook </a:t>
            </a:r>
            <a:r>
              <a:rPr sz="1700" dirty="0"/>
              <a:t>says 3.5 years while README says 7.5 years; verified notebook output covers 2023-01-01 to 2025-05-01.</a:t>
            </a:r>
          </a:p>
          <a:p>
            <a:pPr>
              <a:spcAft>
                <a:spcPts val="700"/>
              </a:spcAft>
              <a:defRPr sz="1300">
                <a:solidFill>
                  <a:srgbClr val="1F2B39"/>
                </a:solidFill>
                <a:latin typeface="Aptos"/>
              </a:defRPr>
            </a:pPr>
            <a:r>
              <a:rPr lang="en-SG" sz="1700" b="1" dirty="0" smtClean="0"/>
              <a:t>•  Dashboard Data Gap: </a:t>
            </a:r>
            <a:r>
              <a:rPr sz="1700" dirty="0" smtClean="0"/>
              <a:t>app_1.py </a:t>
            </a:r>
            <a:r>
              <a:rPr sz="1700" dirty="0"/>
              <a:t>looks for a detached parquet path and falls back to simulated data.</a:t>
            </a:r>
          </a:p>
          <a:p>
            <a:pPr>
              <a:spcAft>
                <a:spcPts val="700"/>
              </a:spcAft>
              <a:defRPr sz="1300">
                <a:solidFill>
                  <a:srgbClr val="1F2B39"/>
                </a:solidFill>
                <a:latin typeface="Aptos"/>
              </a:defRPr>
            </a:pPr>
            <a:r>
              <a:rPr lang="en-SG" sz="1700" b="1" dirty="0" smtClean="0"/>
              <a:t>•  Missing Data: </a:t>
            </a:r>
            <a:r>
              <a:rPr sz="1700" dirty="0" smtClean="0"/>
              <a:t>4,948 </a:t>
            </a:r>
            <a:r>
              <a:rPr sz="1700" dirty="0"/>
              <a:t>latitude/longitude records were missing in the integrated output; </a:t>
            </a:r>
            <a:r>
              <a:rPr sz="1700" dirty="0" err="1"/>
              <a:t>missingness</a:t>
            </a:r>
            <a:r>
              <a:rPr sz="1700" dirty="0"/>
              <a:t> varies by field.</a:t>
            </a:r>
          </a:p>
          <a:p>
            <a:pPr>
              <a:spcAft>
                <a:spcPts val="700"/>
              </a:spcAft>
              <a:defRPr sz="1300">
                <a:solidFill>
                  <a:srgbClr val="1F2B39"/>
                </a:solidFill>
                <a:latin typeface="Aptos"/>
              </a:defRPr>
            </a:pPr>
            <a:r>
              <a:rPr sz="1700" b="1" dirty="0">
                <a:solidFill>
                  <a:srgbClr val="1F2B39"/>
                </a:solidFill>
                <a:latin typeface="Aptos"/>
              </a:rPr>
              <a:t>•  Model validation: </a:t>
            </a:r>
            <a:r>
              <a:rPr sz="1700" dirty="0"/>
              <a:t>cluster and anomaly scores are not sufficient operational thresholds.</a:t>
            </a:r>
          </a:p>
          <a:p>
            <a:pPr>
              <a:spcAft>
                <a:spcPts val="700"/>
              </a:spcAft>
              <a:defRPr sz="1300">
                <a:solidFill>
                  <a:srgbClr val="1F2B39"/>
                </a:solidFill>
                <a:latin typeface="Aptos"/>
              </a:defRPr>
            </a:pPr>
            <a:r>
              <a:rPr sz="1700" b="1" dirty="0"/>
              <a:t>•  </a:t>
            </a:r>
            <a:r>
              <a:rPr sz="1700" b="1" dirty="0" err="1"/>
              <a:t>Explainability</a:t>
            </a:r>
            <a:r>
              <a:rPr sz="1700" b="1" dirty="0"/>
              <a:t>: </a:t>
            </a:r>
            <a:r>
              <a:rPr sz="1700" dirty="0">
                <a:solidFill>
                  <a:srgbClr val="1F2B39"/>
                </a:solidFill>
                <a:latin typeface="Aptos"/>
              </a:rPr>
              <a:t>the app shows labels and profiles but not why a shop was </a:t>
            </a:r>
            <a:r>
              <a:rPr sz="1700" dirty="0"/>
              <a:t>flagged.</a:t>
            </a:r>
          </a:p>
          <a:p>
            <a:pPr>
              <a:spcAft>
                <a:spcPts val="700"/>
              </a:spcAft>
              <a:defRPr sz="1300">
                <a:solidFill>
                  <a:srgbClr val="1F2B39"/>
                </a:solidFill>
                <a:latin typeface="Aptos"/>
              </a:defRPr>
            </a:pPr>
            <a:r>
              <a:rPr lang="en-SG" sz="1700" b="1" dirty="0" smtClean="0"/>
              <a:t>•  Production Controls: </a:t>
            </a:r>
            <a:r>
              <a:rPr sz="1700" dirty="0" smtClean="0"/>
              <a:t>no </a:t>
            </a:r>
            <a:r>
              <a:rPr sz="1700" dirty="0"/>
              <a:t>documented access control, alert ownership, monitoring, or retention policy.</a:t>
            </a:r>
          </a:p>
        </p:txBody>
      </p:sp>
      <p:sp>
        <p:nvSpPr>
          <p:cNvPr id="8" name="TextBox 7"/>
          <p:cNvSpPr txBox="1"/>
          <p:nvPr/>
        </p:nvSpPr>
        <p:spPr>
          <a:xfrm>
            <a:off x="6999055" y="1487904"/>
            <a:ext cx="5120640" cy="400110"/>
          </a:xfrm>
          <a:prstGeom prst="rect">
            <a:avLst/>
          </a:prstGeom>
          <a:noFill/>
        </p:spPr>
        <p:txBody>
          <a:bodyPr wrap="square" lIns="45720" rIns="45720">
            <a:spAutoFit/>
          </a:bodyPr>
          <a:lstStyle/>
          <a:p>
            <a:pPr algn="l">
              <a:defRPr sz="1600" b="1">
                <a:solidFill>
                  <a:srgbClr val="0D2A56"/>
                </a:solidFill>
                <a:latin typeface="Aptos"/>
              </a:defRPr>
            </a:pPr>
            <a:r>
              <a:rPr lang="en-US" sz="2000" dirty="0" smtClean="0"/>
              <a:t>What Would Move This Forward</a:t>
            </a:r>
            <a:endParaRPr lang="en-US" sz="2000" dirty="0"/>
          </a:p>
        </p:txBody>
      </p:sp>
      <p:sp>
        <p:nvSpPr>
          <p:cNvPr id="9" name="Rounded Rectangle 8"/>
          <p:cNvSpPr/>
          <p:nvPr/>
        </p:nvSpPr>
        <p:spPr>
          <a:xfrm>
            <a:off x="6784848" y="2011680"/>
            <a:ext cx="4507992" cy="10972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687769" y="2011680"/>
            <a:ext cx="73152"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0915" y="2060997"/>
            <a:ext cx="4800600" cy="400110"/>
          </a:xfrm>
          <a:prstGeom prst="rect">
            <a:avLst/>
          </a:prstGeom>
          <a:noFill/>
        </p:spPr>
        <p:txBody>
          <a:bodyPr wrap="square" lIns="45720" rIns="45720">
            <a:spAutoFit/>
          </a:bodyPr>
          <a:lstStyle/>
          <a:p>
            <a:pPr algn="ctr">
              <a:defRPr sz="1300" b="1">
                <a:solidFill>
                  <a:srgbClr val="0D2A56"/>
                </a:solidFill>
                <a:latin typeface="Aptos"/>
              </a:defRPr>
            </a:pPr>
            <a:r>
              <a:rPr sz="2000" dirty="0"/>
              <a:t>Real data connection</a:t>
            </a:r>
          </a:p>
        </p:txBody>
      </p:sp>
      <p:sp>
        <p:nvSpPr>
          <p:cNvPr id="12" name="TextBox 11"/>
          <p:cNvSpPr txBox="1"/>
          <p:nvPr/>
        </p:nvSpPr>
        <p:spPr>
          <a:xfrm>
            <a:off x="6933680" y="2456232"/>
            <a:ext cx="4210328" cy="661720"/>
          </a:xfrm>
          <a:prstGeom prst="rect">
            <a:avLst/>
          </a:prstGeom>
          <a:noFill/>
        </p:spPr>
        <p:txBody>
          <a:bodyPr wrap="square" lIns="45720" rIns="45720">
            <a:spAutoFit/>
          </a:bodyPr>
          <a:lstStyle/>
          <a:p>
            <a:pPr algn="ctr">
              <a:defRPr sz="1000" b="0">
                <a:solidFill>
                  <a:srgbClr val="1F2B39"/>
                </a:solidFill>
                <a:latin typeface="Aptos"/>
              </a:defRPr>
            </a:pPr>
            <a:r>
              <a:rPr sz="1850" dirty="0"/>
              <a:t>Use the verified master dataset instead of synthetic fallback.</a:t>
            </a:r>
          </a:p>
        </p:txBody>
      </p:sp>
      <p:sp>
        <p:nvSpPr>
          <p:cNvPr id="13" name="Rounded Rectangle 12"/>
          <p:cNvSpPr/>
          <p:nvPr/>
        </p:nvSpPr>
        <p:spPr>
          <a:xfrm>
            <a:off x="6770449" y="3337560"/>
            <a:ext cx="4609938" cy="10972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736406" y="3337560"/>
            <a:ext cx="73152" cy="109728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0915" y="3416352"/>
            <a:ext cx="4800600" cy="400110"/>
          </a:xfrm>
          <a:prstGeom prst="rect">
            <a:avLst/>
          </a:prstGeom>
          <a:noFill/>
        </p:spPr>
        <p:txBody>
          <a:bodyPr wrap="square" lIns="45720" rIns="45720">
            <a:spAutoFit/>
          </a:bodyPr>
          <a:lstStyle/>
          <a:p>
            <a:pPr algn="ctr">
              <a:defRPr sz="1300" b="1">
                <a:solidFill>
                  <a:srgbClr val="0D2A56"/>
                </a:solidFill>
                <a:latin typeface="Aptos"/>
              </a:defRPr>
            </a:pPr>
            <a:r>
              <a:rPr sz="2000"/>
              <a:t>Validation rules</a:t>
            </a:r>
          </a:p>
        </p:txBody>
      </p:sp>
      <p:sp>
        <p:nvSpPr>
          <p:cNvPr id="16" name="TextBox 15"/>
          <p:cNvSpPr txBox="1"/>
          <p:nvPr/>
        </p:nvSpPr>
        <p:spPr>
          <a:xfrm>
            <a:off x="6636016" y="3782112"/>
            <a:ext cx="4800600" cy="661720"/>
          </a:xfrm>
          <a:prstGeom prst="rect">
            <a:avLst/>
          </a:prstGeom>
          <a:noFill/>
        </p:spPr>
        <p:txBody>
          <a:bodyPr wrap="square" lIns="45720" rIns="45720">
            <a:spAutoFit/>
          </a:bodyPr>
          <a:lstStyle/>
          <a:p>
            <a:pPr algn="ctr">
              <a:defRPr sz="1000" b="0">
                <a:solidFill>
                  <a:srgbClr val="1F2B39"/>
                </a:solidFill>
                <a:latin typeface="Aptos"/>
              </a:defRPr>
            </a:pPr>
            <a:r>
              <a:rPr sz="1850" dirty="0"/>
              <a:t>Define thresholds and </a:t>
            </a:r>
            <a:endParaRPr lang="en-SG" sz="1850" dirty="0" smtClean="0"/>
          </a:p>
          <a:p>
            <a:pPr algn="ctr">
              <a:defRPr sz="1000" b="0">
                <a:solidFill>
                  <a:srgbClr val="1F2B39"/>
                </a:solidFill>
                <a:latin typeface="Aptos"/>
              </a:defRPr>
            </a:pPr>
            <a:r>
              <a:rPr sz="1850" dirty="0" smtClean="0"/>
              <a:t>human </a:t>
            </a:r>
            <a:r>
              <a:rPr sz="1850" dirty="0"/>
              <a:t>review criteria.</a:t>
            </a:r>
          </a:p>
        </p:txBody>
      </p:sp>
      <p:sp>
        <p:nvSpPr>
          <p:cNvPr id="17" name="Rounded Rectangle 16"/>
          <p:cNvSpPr/>
          <p:nvPr/>
        </p:nvSpPr>
        <p:spPr>
          <a:xfrm>
            <a:off x="6770449" y="4663440"/>
            <a:ext cx="4609938" cy="109728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765586" y="4663440"/>
            <a:ext cx="73152" cy="109728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60915" y="4742232"/>
            <a:ext cx="4800600" cy="400110"/>
          </a:xfrm>
          <a:prstGeom prst="rect">
            <a:avLst/>
          </a:prstGeom>
          <a:noFill/>
        </p:spPr>
        <p:txBody>
          <a:bodyPr wrap="square" lIns="45720" rIns="45720">
            <a:spAutoFit/>
          </a:bodyPr>
          <a:lstStyle/>
          <a:p>
            <a:pPr algn="ctr">
              <a:defRPr sz="1300" b="1">
                <a:solidFill>
                  <a:srgbClr val="0D2A56"/>
                </a:solidFill>
                <a:latin typeface="Aptos"/>
              </a:defRPr>
            </a:pPr>
            <a:r>
              <a:rPr sz="2000"/>
              <a:t>Auditability</a:t>
            </a:r>
          </a:p>
        </p:txBody>
      </p:sp>
      <p:sp>
        <p:nvSpPr>
          <p:cNvPr id="20" name="TextBox 19"/>
          <p:cNvSpPr txBox="1"/>
          <p:nvPr/>
        </p:nvSpPr>
        <p:spPr>
          <a:xfrm>
            <a:off x="6820841" y="5107991"/>
            <a:ext cx="4440674" cy="661720"/>
          </a:xfrm>
          <a:prstGeom prst="rect">
            <a:avLst/>
          </a:prstGeom>
          <a:noFill/>
        </p:spPr>
        <p:txBody>
          <a:bodyPr wrap="square" lIns="45720" rIns="45720">
            <a:spAutoFit/>
          </a:bodyPr>
          <a:lstStyle/>
          <a:p>
            <a:pPr algn="ctr">
              <a:defRPr sz="1000" b="0">
                <a:solidFill>
                  <a:srgbClr val="1F2B39"/>
                </a:solidFill>
                <a:latin typeface="Aptos"/>
              </a:defRPr>
            </a:pPr>
            <a:r>
              <a:rPr sz="1850" dirty="0"/>
              <a:t>Capture data versions, model versions, and decision rationale.</a:t>
            </a:r>
          </a:p>
        </p:txBody>
      </p:sp>
      <p:sp>
        <p:nvSpPr>
          <p:cNvPr id="21" name="TextBox 20"/>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10312"/>
            <a:ext cx="6217920" cy="256032"/>
          </a:xfrm>
          <a:prstGeom prst="rect">
            <a:avLst/>
          </a:prstGeom>
          <a:noFill/>
        </p:spPr>
        <p:txBody>
          <a:bodyPr wrap="none">
            <a:spAutoFit/>
          </a:bodyPr>
          <a:lstStyle/>
          <a:p>
            <a:pPr>
              <a:defRPr sz="900" b="1">
                <a:solidFill>
                  <a:srgbClr val="0078D4"/>
                </a:solidFill>
                <a:latin typeface="Aptos"/>
              </a:defRPr>
            </a:pPr>
            <a:r>
              <a:t>SHORT → MEDIUM → LONG TERM</a:t>
            </a:r>
          </a:p>
        </p:txBody>
      </p:sp>
      <p:sp>
        <p:nvSpPr>
          <p:cNvPr id="3" name="TextBox 2"/>
          <p:cNvSpPr txBox="1"/>
          <p:nvPr/>
        </p:nvSpPr>
        <p:spPr>
          <a:xfrm>
            <a:off x="566928" y="585607"/>
            <a:ext cx="10972800" cy="438912"/>
          </a:xfrm>
          <a:prstGeom prst="rect">
            <a:avLst/>
          </a:prstGeom>
          <a:noFill/>
        </p:spPr>
        <p:txBody>
          <a:bodyPr wrap="none">
            <a:spAutoFit/>
          </a:bodyPr>
          <a:lstStyle/>
          <a:p>
            <a:pPr>
              <a:defRPr sz="2700" b="1">
                <a:solidFill>
                  <a:srgbClr val="0D2A56"/>
                </a:solidFill>
                <a:latin typeface="Aptos"/>
              </a:defRPr>
            </a:pPr>
            <a:r>
              <a:t>Roadmap and final conclusion</a:t>
            </a:r>
          </a:p>
        </p:txBody>
      </p:sp>
      <p:sp>
        <p:nvSpPr>
          <p:cNvPr id="4" name="TextBox 3"/>
          <p:cNvSpPr txBox="1"/>
          <p:nvPr/>
        </p:nvSpPr>
        <p:spPr>
          <a:xfrm>
            <a:off x="566928" y="1015375"/>
            <a:ext cx="10789920" cy="320040"/>
          </a:xfrm>
          <a:prstGeom prst="rect">
            <a:avLst/>
          </a:prstGeom>
          <a:noFill/>
        </p:spPr>
        <p:txBody>
          <a:bodyPr wrap="none">
            <a:spAutoFit/>
          </a:bodyPr>
          <a:lstStyle/>
          <a:p>
            <a:pPr>
              <a:defRPr sz="1200">
                <a:solidFill>
                  <a:srgbClr val="5B6977"/>
                </a:solidFill>
                <a:latin typeface="Aptos"/>
              </a:defRPr>
            </a:pPr>
            <a:r>
              <a:t>Build toward a governed, scalable decision-support system</a:t>
            </a:r>
          </a:p>
        </p:txBody>
      </p:sp>
      <p:sp>
        <p:nvSpPr>
          <p:cNvPr id="5" name="Rectangle 4"/>
          <p:cNvSpPr/>
          <p:nvPr/>
        </p:nvSpPr>
        <p:spPr>
          <a:xfrm>
            <a:off x="566928" y="1390279"/>
            <a:ext cx="1101852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0" y="6547104"/>
            <a:ext cx="640080" cy="182880"/>
          </a:xfrm>
          <a:prstGeom prst="rect">
            <a:avLst/>
          </a:prstGeom>
          <a:noFill/>
        </p:spPr>
        <p:txBody>
          <a:bodyPr wrap="none">
            <a:spAutoFit/>
          </a:bodyPr>
          <a:lstStyle/>
          <a:p>
            <a:pPr algn="r">
              <a:defRPr sz="800">
                <a:solidFill>
                  <a:srgbClr val="5B6977"/>
                </a:solidFill>
                <a:latin typeface="Aptos"/>
              </a:defRPr>
            </a:pPr>
            <a:r>
              <a:t>16</a:t>
            </a:r>
          </a:p>
        </p:txBody>
      </p:sp>
      <p:sp>
        <p:nvSpPr>
          <p:cNvPr id="7" name="Rounded Rectangle 6"/>
          <p:cNvSpPr/>
          <p:nvPr/>
        </p:nvSpPr>
        <p:spPr>
          <a:xfrm>
            <a:off x="685800" y="1923160"/>
            <a:ext cx="3474720"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923160"/>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001952"/>
            <a:ext cx="3154679" cy="461665"/>
          </a:xfrm>
          <a:prstGeom prst="rect">
            <a:avLst/>
          </a:prstGeom>
          <a:noFill/>
        </p:spPr>
        <p:txBody>
          <a:bodyPr wrap="square" lIns="45720" rIns="45720">
            <a:spAutoFit/>
          </a:bodyPr>
          <a:lstStyle/>
          <a:p>
            <a:pPr algn="ctr">
              <a:defRPr sz="1300" b="1">
                <a:solidFill>
                  <a:srgbClr val="0D2A56"/>
                </a:solidFill>
                <a:latin typeface="Aptos"/>
              </a:defRPr>
            </a:pPr>
            <a:r>
              <a:rPr lang="en-SG" sz="2400" dirty="0" smtClean="0"/>
              <a:t>Short Term</a:t>
            </a:r>
            <a:endParaRPr lang="en-SG" sz="2400" dirty="0"/>
          </a:p>
        </p:txBody>
      </p:sp>
      <p:sp>
        <p:nvSpPr>
          <p:cNvPr id="10" name="TextBox 9"/>
          <p:cNvSpPr txBox="1"/>
          <p:nvPr/>
        </p:nvSpPr>
        <p:spPr>
          <a:xfrm>
            <a:off x="886968" y="2426080"/>
            <a:ext cx="3154679" cy="1231106"/>
          </a:xfrm>
          <a:prstGeom prst="rect">
            <a:avLst/>
          </a:prstGeom>
          <a:noFill/>
        </p:spPr>
        <p:txBody>
          <a:bodyPr wrap="square" lIns="45720" rIns="45720">
            <a:spAutoFit/>
          </a:bodyPr>
          <a:lstStyle/>
          <a:p>
            <a:pPr algn="ctr">
              <a:defRPr sz="1000" b="0">
                <a:solidFill>
                  <a:srgbClr val="1F2B39"/>
                </a:solidFill>
                <a:latin typeface="Aptos"/>
              </a:defRPr>
            </a:pPr>
            <a:r>
              <a:rPr sz="1850" dirty="0"/>
              <a:t>Improve visualizations, UI, validation, data-quality reporting, and business metrics.</a:t>
            </a:r>
          </a:p>
        </p:txBody>
      </p:sp>
      <p:sp>
        <p:nvSpPr>
          <p:cNvPr id="11" name="Rounded Rectangle 10"/>
          <p:cNvSpPr/>
          <p:nvPr/>
        </p:nvSpPr>
        <p:spPr>
          <a:xfrm>
            <a:off x="4434840" y="1923160"/>
            <a:ext cx="3474720"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923160"/>
            <a:ext cx="73152" cy="1828800"/>
          </a:xfrm>
          <a:prstGeom prst="rect">
            <a:avLst/>
          </a:prstGeom>
          <a:solidFill>
            <a:srgbClr val="25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001952"/>
            <a:ext cx="3154679" cy="461665"/>
          </a:xfrm>
          <a:prstGeom prst="rect">
            <a:avLst/>
          </a:prstGeom>
          <a:noFill/>
        </p:spPr>
        <p:txBody>
          <a:bodyPr wrap="square" lIns="45720" rIns="45720">
            <a:spAutoFit/>
          </a:bodyPr>
          <a:lstStyle/>
          <a:p>
            <a:pPr algn="ctr">
              <a:defRPr sz="1300" b="1">
                <a:solidFill>
                  <a:srgbClr val="0D2A56"/>
                </a:solidFill>
                <a:latin typeface="Aptos"/>
              </a:defRPr>
            </a:pPr>
            <a:r>
              <a:rPr lang="en-SG" sz="2400" dirty="0" smtClean="0"/>
              <a:t>Medium Term</a:t>
            </a:r>
            <a:endParaRPr lang="en-SG" sz="2400" dirty="0"/>
          </a:p>
        </p:txBody>
      </p:sp>
      <p:sp>
        <p:nvSpPr>
          <p:cNvPr id="14" name="TextBox 13"/>
          <p:cNvSpPr txBox="1"/>
          <p:nvPr/>
        </p:nvSpPr>
        <p:spPr>
          <a:xfrm>
            <a:off x="4636007" y="2426080"/>
            <a:ext cx="3154679" cy="1231106"/>
          </a:xfrm>
          <a:prstGeom prst="rect">
            <a:avLst/>
          </a:prstGeom>
          <a:noFill/>
        </p:spPr>
        <p:txBody>
          <a:bodyPr wrap="square" lIns="45720" rIns="45720">
            <a:spAutoFit/>
          </a:bodyPr>
          <a:lstStyle/>
          <a:p>
            <a:pPr algn="ctr">
              <a:defRPr sz="1000" b="0">
                <a:solidFill>
                  <a:srgbClr val="1F2B39"/>
                </a:solidFill>
                <a:latin typeface="Aptos"/>
              </a:defRPr>
            </a:pPr>
            <a:r>
              <a:rPr sz="1850"/>
              <a:t>Add automated reports, explainability, better features, and an anomaly review workflow.</a:t>
            </a:r>
          </a:p>
        </p:txBody>
      </p:sp>
      <p:sp>
        <p:nvSpPr>
          <p:cNvPr id="15" name="Rounded Rectangle 14"/>
          <p:cNvSpPr/>
          <p:nvPr/>
        </p:nvSpPr>
        <p:spPr>
          <a:xfrm>
            <a:off x="8183879" y="1923160"/>
            <a:ext cx="3474720" cy="1828800"/>
          </a:xfrm>
          <a:prstGeom prst="roundRect">
            <a:avLst/>
          </a:prstGeom>
          <a:solidFill>
            <a:srgbClr val="F4F8FC"/>
          </a:solidFill>
          <a:ln w="12700">
            <a:solidFill>
              <a:srgbClr val="D5E0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1923160"/>
            <a:ext cx="73152" cy="1828800"/>
          </a:xfrm>
          <a:prstGeom prst="rect">
            <a:avLst/>
          </a:prstGeom>
          <a:solidFill>
            <a:srgbClr val="F59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5048" y="2001952"/>
            <a:ext cx="3154679" cy="461665"/>
          </a:xfrm>
          <a:prstGeom prst="rect">
            <a:avLst/>
          </a:prstGeom>
          <a:noFill/>
        </p:spPr>
        <p:txBody>
          <a:bodyPr wrap="square" lIns="45720" rIns="45720">
            <a:spAutoFit/>
          </a:bodyPr>
          <a:lstStyle/>
          <a:p>
            <a:pPr algn="ctr">
              <a:defRPr sz="1300" b="1">
                <a:solidFill>
                  <a:srgbClr val="0D2A56"/>
                </a:solidFill>
                <a:latin typeface="Aptos"/>
              </a:defRPr>
            </a:pPr>
            <a:r>
              <a:rPr lang="en-SG" sz="2400" dirty="0" smtClean="0"/>
              <a:t>Long Term</a:t>
            </a:r>
            <a:endParaRPr lang="en-SG" sz="2400" dirty="0"/>
          </a:p>
        </p:txBody>
      </p:sp>
      <p:sp>
        <p:nvSpPr>
          <p:cNvPr id="18" name="TextBox 17"/>
          <p:cNvSpPr txBox="1"/>
          <p:nvPr/>
        </p:nvSpPr>
        <p:spPr>
          <a:xfrm>
            <a:off x="8385048" y="2426080"/>
            <a:ext cx="3154679" cy="1231106"/>
          </a:xfrm>
          <a:prstGeom prst="rect">
            <a:avLst/>
          </a:prstGeom>
          <a:noFill/>
        </p:spPr>
        <p:txBody>
          <a:bodyPr wrap="square" lIns="45720" rIns="45720">
            <a:spAutoFit/>
          </a:bodyPr>
          <a:lstStyle/>
          <a:p>
            <a:pPr algn="ctr">
              <a:defRPr sz="1000" b="0">
                <a:solidFill>
                  <a:srgbClr val="1F2B39"/>
                </a:solidFill>
                <a:latin typeface="Aptos"/>
              </a:defRPr>
            </a:pPr>
            <a:r>
              <a:rPr sz="1850"/>
              <a:t>Enable real-time monitoring, alerts, model monitoring, MLOps, cloud deployment, and role-based dashboards.</a:t>
            </a:r>
          </a:p>
        </p:txBody>
      </p:sp>
      <p:sp>
        <p:nvSpPr>
          <p:cNvPr id="19" name="TextBox 18"/>
          <p:cNvSpPr txBox="1"/>
          <p:nvPr/>
        </p:nvSpPr>
        <p:spPr>
          <a:xfrm>
            <a:off x="685800" y="4274628"/>
            <a:ext cx="10515600" cy="584775"/>
          </a:xfrm>
          <a:prstGeom prst="rect">
            <a:avLst/>
          </a:prstGeom>
          <a:noFill/>
        </p:spPr>
        <p:txBody>
          <a:bodyPr wrap="square" lIns="45720" rIns="45720">
            <a:spAutoFit/>
          </a:bodyPr>
          <a:lstStyle/>
          <a:p>
            <a:pPr algn="ctr">
              <a:defRPr sz="1800" b="1">
                <a:solidFill>
                  <a:srgbClr val="0D2A56"/>
                </a:solidFill>
                <a:latin typeface="Aptos"/>
              </a:defRPr>
            </a:pPr>
            <a:r>
              <a:rPr lang="en-SG" sz="3200" dirty="0" smtClean="0"/>
              <a:t>Final Message</a:t>
            </a:r>
            <a:endParaRPr lang="en-SG" sz="3200" dirty="0"/>
          </a:p>
        </p:txBody>
      </p:sp>
      <p:sp>
        <p:nvSpPr>
          <p:cNvPr id="20" name="TextBox 19"/>
          <p:cNvSpPr txBox="1"/>
          <p:nvPr/>
        </p:nvSpPr>
        <p:spPr>
          <a:xfrm>
            <a:off x="1517514" y="4914415"/>
            <a:ext cx="9124545" cy="877163"/>
          </a:xfrm>
          <a:prstGeom prst="rect">
            <a:avLst/>
          </a:prstGeom>
          <a:noFill/>
        </p:spPr>
        <p:txBody>
          <a:bodyPr wrap="square" lIns="45720" rIns="45720">
            <a:spAutoFit/>
          </a:bodyPr>
          <a:lstStyle/>
          <a:p>
            <a:pPr algn="ctr">
              <a:defRPr sz="1700" b="1">
                <a:solidFill>
                  <a:srgbClr val="1F2B39"/>
                </a:solidFill>
                <a:latin typeface="Aptos"/>
              </a:defRPr>
            </a:pPr>
            <a:r>
              <a:rPr dirty="0"/>
              <a:t>This project demonstrates how Telangana PDS data can be transformed into structured evidence, shop-level patterns, and an accessible decision-support experience—while keeping human judgment at the center.</a:t>
            </a:r>
          </a:p>
        </p:txBody>
      </p:sp>
      <p:sp>
        <p:nvSpPr>
          <p:cNvPr id="22" name="TextBox 21"/>
          <p:cNvSpPr txBox="1"/>
          <p:nvPr/>
        </p:nvSpPr>
        <p:spPr>
          <a:xfrm>
            <a:off x="566928" y="6428232"/>
            <a:ext cx="10881360" cy="228600"/>
          </a:xfrm>
          <a:prstGeom prst="rect">
            <a:avLst/>
          </a:prstGeom>
          <a:noFill/>
        </p:spPr>
        <p:txBody>
          <a:bodyPr wrap="none">
            <a:spAutoFit/>
          </a:bodyPr>
          <a:lstStyle/>
          <a:p>
            <a:pPr>
              <a:defRPr sz="700">
                <a:solidFill>
                  <a:srgbClr val="5B6977"/>
                </a:solidFill>
                <a:latin typeface="Aptos"/>
              </a:defRPr>
            </a:pPr>
            <a:r>
              <a:t>Telangana PDS Analytics | Data-to-decision platform</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2794</Words>
  <Application>Microsoft Office PowerPoint</Application>
  <PresentationFormat>Widescreen</PresentationFormat>
  <Paragraphs>299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User</cp:lastModifiedBy>
  <cp:revision>15</cp:revision>
  <dcterms:created xsi:type="dcterms:W3CDTF">2013-01-27T09:14:16Z</dcterms:created>
  <dcterms:modified xsi:type="dcterms:W3CDTF">2026-10-08T08:14:51Z</dcterms:modified>
  <cp:category/>
</cp:coreProperties>
</file>